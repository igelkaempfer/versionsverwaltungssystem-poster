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5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980F48B6-5B74-492F-8C77-22AA2F9DF1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6D0857B-1418-4191-8062-6C804F6154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FD645E-5B78-4A7E-8787-9789C929C889}" type="datetimeFigureOut">
              <a:rPr lang="de-DE" smtClean="0"/>
              <a:t>10.12.2025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8D3872-5A76-4844-8F69-62285C3556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C596D5-D3AF-4913-9CBD-8BDF45498A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AB19E-CF68-4924-B2FF-8A36A1E4B63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8185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noProof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87A7E-606D-4085-B5D9-B84283FD64F4}" type="datetimeFigureOut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 dirty="0"/>
              <a:t>Textmasterformate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CFCAB-7ED9-4BDC-8A18-79F8B7017FB3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7797958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CFCAB-7ED9-4BDC-8A18-79F8B7017FB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6292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Bild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pe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hteck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ihand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ihand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hteck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ihand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ihand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ihand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ihand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ihand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ihand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ihand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ihand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ihand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ihand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ihand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ihand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ihand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ihand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ihand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ihand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ihand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ihand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ihand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ihand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ihand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ihand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ihand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ihand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hteck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ihand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ihand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ihand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ihand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ihand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ihand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ihand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ihand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ihand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ihand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ihand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hteck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ihand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ihand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ihand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ihand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ihand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ihand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ihand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ihand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ihand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ihand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ihand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ihand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ihand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5F7EF189-DD92-4021-9F0B-61FCC0321CAD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FE84AA-F4F9-4489-AF64-14AFD359191A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26CFA-ADBD-4826-8BA4-E1EF2317AD9A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DCC0CC9-81B1-4B9A-A84F-2C683FF51EC8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8FDA09-4EE3-4D1D-BD4C-01F112BA0158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D71751-C764-4B93-BAA0-F6AAAE3D7A5A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700363-4109-4728-BE3A-1DC99CC28797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0EDDEF-7450-45B8-82E7-7E55F2B65840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2622A2-DAE8-4A43-A4B6-BC377E871BC8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it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D1FF06-CF27-4334-B3B7-637620F1E6E4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9D956CA-E2FF-4F62-8224-666708E9F3E2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05D6B7-3004-4FAC-BC3A-015FE0A57446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  <p:sp>
        <p:nvSpPr>
          <p:cNvPr id="60" name="Textfeld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61" name="Textfeld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ten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74A034-6A41-405C-94EC-809CF0CECE64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7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11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AB17A2-F2E5-4595-A7FB-9B751BAAC273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 1"/>
          <p:cNvSpPr>
            <a:spLocks noGrp="1"/>
          </p:cNvSpPr>
          <p:nvPr>
            <p:ph type="title" hasCustomPrompt="1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9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20" name="Bildplatzhalter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21" name="Textplatzhalter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22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23" name="Bildplatzhalter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24" name="Textplatzhalter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25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26" name="Bildplatzhalter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27" name="Textplatzhalter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Textmasterformate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748A9B5-1858-4454-934E-4CCFC700924D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5456CE-09A8-4398-AD5C-C5B8BA377448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de-DE" noProof="0"/>
              <a:t>Textmasterformate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DDCAF8-CE4B-4582-882D-090A7C25B249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up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hteck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ihand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ihand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ihand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ihand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ihand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ihand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ihand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ihand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ihand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ihand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i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ihand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ihand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ihand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ihand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hteck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ihand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ihand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ihand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ihand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ihand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ihand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ihand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ihand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ihand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ihand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uppe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ihand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ihand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ihand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ihand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ihand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ihand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ihand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ihand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ihand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hteck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de-DE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Textmasterformate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EEA0E491-1C9C-471D-9B2D-C17D4E72CADA}" type="datetime1">
              <a:rPr lang="de-DE" noProof="0" smtClean="0"/>
              <a:t>10.12.2025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de-DE" noProof="0" smtClean="0"/>
              <a:pPr/>
              <a:t>‹Nr.›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3730" y="0"/>
            <a:ext cx="8791575" cy="2387600"/>
          </a:xfrm>
        </p:spPr>
        <p:txBody>
          <a:bodyPr rtlCol="0">
            <a:normAutofit/>
          </a:bodyPr>
          <a:lstStyle/>
          <a:p>
            <a:pPr algn="ctr"/>
            <a:r>
              <a:rPr lang="de-DE" sz="5400" dirty="0"/>
              <a:t>Versionskontrollsysteme im Softwareengineering</a:t>
            </a:r>
            <a:endParaRPr lang="de-DE" sz="5400" dirty="0">
              <a:latin typeface="Rockwell" panose="02060603020205020403" pitchFamily="18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767722"/>
            <a:ext cx="8791575" cy="1655762"/>
          </a:xfrm>
        </p:spPr>
        <p:txBody>
          <a:bodyPr rtlCol="0">
            <a:normAutofit/>
          </a:bodyPr>
          <a:lstStyle/>
          <a:p>
            <a:pPr algn="ctr" rtl="0"/>
            <a:r>
              <a:rPr lang="de-DE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Gruppen Mitglieder: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B715B1-ACDE-4103-46FF-B494BE98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800" u="sng" dirty="0"/>
              <a:t>Inhaltsverzeichnis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06BBB8-CBAE-155D-01B4-41D195DB16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1819520"/>
            <a:ext cx="1005597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Einleitung</a:t>
            </a:r>
            <a:endParaRPr kumimoji="0" lang="de-DE" altLang="de-DE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Vorstellung &amp; Ziel der Präsentation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Leitfragen vorstellen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Leitfrage 1: Vorteile verteilter vs. zentralisierter VCS</a:t>
            </a:r>
            <a:endParaRPr kumimoji="0" lang="de-DE" altLang="de-DE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Zielsetzung von Versionskontrollsystemen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Zentralisierte Systeme (CVCS)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Verteilte Systeme (DVCS)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Vergleich CVCS vs. DVCS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Technische Darstellung (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Graph)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Zusammenfassung Leitfrage 1</a:t>
            </a:r>
          </a:p>
        </p:txBody>
      </p:sp>
    </p:spTree>
    <p:extLst>
      <p:ext uri="{BB962C8B-B14F-4D97-AF65-F5344CB8AC3E}">
        <p14:creationId xmlns:p14="http://schemas.microsoft.com/office/powerpoint/2010/main" val="293164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854A2-B7AE-181D-8E46-6A24FA42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D65075-ABB8-A08D-AF01-37E65749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800" u="sng" dirty="0"/>
              <a:t>Inhaltsverzeichnis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4BD7F2A-013E-B442-5D92-395106CF8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2004209"/>
            <a:ext cx="795121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b="1" u="sng" dirty="0">
                <a:latin typeface="Arial" panose="020B0604020202020204" pitchFamily="34" charset="0"/>
              </a:rPr>
              <a:t>Leitfrage 2: </a:t>
            </a:r>
            <a:r>
              <a:rPr lang="de-DE" altLang="de-DE" b="1" u="sng" dirty="0" err="1">
                <a:latin typeface="Arial" panose="020B0604020202020204" pitchFamily="34" charset="0"/>
              </a:rPr>
              <a:t>Branching</a:t>
            </a:r>
            <a:r>
              <a:rPr lang="de-DE" altLang="de-DE" b="1" u="sng" dirty="0">
                <a:latin typeface="Arial" panose="020B0604020202020204" pitchFamily="34" charset="0"/>
              </a:rPr>
              <a:t>-Strategien &amp; Softwarequalität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 err="1">
                <a:latin typeface="Arial" panose="020B0604020202020204" pitchFamily="34" charset="0"/>
              </a:rPr>
              <a:t>Branching</a:t>
            </a:r>
            <a:r>
              <a:rPr lang="de-DE" altLang="de-DE" dirty="0">
                <a:latin typeface="Arial" panose="020B0604020202020204" pitchFamily="34" charset="0"/>
              </a:rPr>
              <a:t>-Grundlagen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Trunk-</a:t>
            </a:r>
            <a:r>
              <a:rPr lang="de-DE" altLang="de-DE" dirty="0" err="1">
                <a:latin typeface="Arial" panose="020B0604020202020204" pitchFamily="34" charset="0"/>
              </a:rPr>
              <a:t>Based</a:t>
            </a:r>
            <a:r>
              <a:rPr lang="de-DE" altLang="de-DE" dirty="0">
                <a:latin typeface="Arial" panose="020B0604020202020204" pitchFamily="34" charset="0"/>
              </a:rPr>
              <a:t> 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Feature </a:t>
            </a:r>
            <a:r>
              <a:rPr lang="de-DE" altLang="de-DE" dirty="0" err="1">
                <a:latin typeface="Arial" panose="020B0604020202020204" pitchFamily="34" charset="0"/>
              </a:rPr>
              <a:t>Branching</a:t>
            </a:r>
            <a:r>
              <a:rPr lang="de-DE" altLang="de-DE" dirty="0">
                <a:latin typeface="Arial" panose="020B0604020202020204" pitchFamily="34" charset="0"/>
              </a:rPr>
              <a:t> / </a:t>
            </a:r>
            <a:r>
              <a:rPr lang="de-DE" altLang="de-DE" dirty="0" err="1">
                <a:latin typeface="Arial" panose="020B0604020202020204" pitchFamily="34" charset="0"/>
              </a:rPr>
              <a:t>Gitflow</a:t>
            </a:r>
            <a:endParaRPr lang="de-DE" altLang="de-D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 err="1">
                <a:latin typeface="Arial" panose="020B0604020202020204" pitchFamily="34" charset="0"/>
              </a:rPr>
              <a:t>Forking</a:t>
            </a:r>
            <a:r>
              <a:rPr lang="de-DE" altLang="de-DE" dirty="0">
                <a:latin typeface="Arial" panose="020B0604020202020204" pitchFamily="34" charset="0"/>
              </a:rPr>
              <a:t> Workflow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Auswirkungen auf Softwarequalität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Rollen-Spiel / </a:t>
            </a:r>
            <a:r>
              <a:rPr lang="de-DE" altLang="de-DE" dirty="0" err="1">
                <a:latin typeface="Arial" panose="020B0604020202020204" pitchFamily="34" charset="0"/>
              </a:rPr>
              <a:t>Merge</a:t>
            </a:r>
            <a:r>
              <a:rPr lang="de-DE" altLang="de-DE" dirty="0">
                <a:latin typeface="Arial" panose="020B0604020202020204" pitchFamily="34" charset="0"/>
              </a:rPr>
              <a:t>-Konflikt Demo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Zusammenfassung Leitfrage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b="1" u="sng" dirty="0">
                <a:latin typeface="Arial" panose="020B0604020202020204" pitchFamily="34" charset="0"/>
              </a:rPr>
              <a:t>Fazit &amp; Quellen</a:t>
            </a:r>
          </a:p>
        </p:txBody>
      </p:sp>
    </p:spTree>
    <p:extLst>
      <p:ext uri="{BB962C8B-B14F-4D97-AF65-F5344CB8AC3E}">
        <p14:creationId xmlns:p14="http://schemas.microsoft.com/office/powerpoint/2010/main" val="3450999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7BCFA-87A3-C904-CF4B-C2AFC127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468C8C-1D82-0F2A-4A4B-02D69EA3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800" u="sng" dirty="0"/>
              <a:t> Teil1: Einleitung Leitfrage 1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A778F5B-AF7E-6EC7-A89B-0684C05EAC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9118" y="2890391"/>
            <a:ext cx="1105058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de-DE" sz="3200" dirty="0"/>
              <a:t>Welche Vorteile bietet ein verteiltes Versionskontrollsystem im Vergleich zu einem zentralisierten Modell?</a:t>
            </a:r>
            <a:endParaRPr lang="de-DE" altLang="de-DE" sz="3200" b="1" u="sng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53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33DD7-6D2E-F32C-1B49-22D1FCA7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B17E72-FEE7-F68C-8EF3-07FDE724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088061" cy="1478570"/>
          </a:xfrm>
        </p:spPr>
        <p:txBody>
          <a:bodyPr>
            <a:normAutofit/>
          </a:bodyPr>
          <a:lstStyle/>
          <a:p>
            <a:r>
              <a:rPr lang="de-DE" sz="4800" u="sng" dirty="0"/>
              <a:t> Zielsetzung von Versionskontrollsystemen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853EAB1-8A3D-6A30-8117-3B9C67915D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527" y="2097088"/>
            <a:ext cx="1105058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Änderungen nachvollziehen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Historie &amp; alte Versionen wiederherstellen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Paralleles Arbeiten im Team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Dokumentation für spätere Bearbeitung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Zitat: „Versionsverwaltung ist ein System, das Änderungen an Dateien über die Zeit protokolliert.“ [1]</a:t>
            </a:r>
          </a:p>
        </p:txBody>
      </p:sp>
    </p:spTree>
    <p:extLst>
      <p:ext uri="{BB962C8B-B14F-4D97-AF65-F5344CB8AC3E}">
        <p14:creationId xmlns:p14="http://schemas.microsoft.com/office/powerpoint/2010/main" val="18344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8501F-2FAD-71FA-0929-067A5D6A1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7601BD-2469-12BB-1AA9-76CA6AD90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088061" cy="1478570"/>
          </a:xfrm>
        </p:spPr>
        <p:txBody>
          <a:bodyPr>
            <a:normAutofit/>
          </a:bodyPr>
          <a:lstStyle/>
          <a:p>
            <a:r>
              <a:rPr lang="de-DE" sz="4800" u="sng" dirty="0"/>
              <a:t> Zentralisierte Systeme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9543C9D-554F-CE4D-AFDD-7A22F162D9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527" y="2281754"/>
            <a:ext cx="1105058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Definition: Ein CVCS speichert das gesamte Projekt auf einem zentralen Server. Entwickler benötigen eine Verbindung, um Änderungen zu machen.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Beispiele: Subversion (SVN), CVS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Vorteile: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Klare zentrale Kontrolle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Einfache Rechteverwaltung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Geeignet für kleine Teams oder Projekte mit geringer Parallelität</a:t>
            </a:r>
          </a:p>
        </p:txBody>
      </p:sp>
    </p:spTree>
    <p:extLst>
      <p:ext uri="{BB962C8B-B14F-4D97-AF65-F5344CB8AC3E}">
        <p14:creationId xmlns:p14="http://schemas.microsoft.com/office/powerpoint/2010/main" val="3916446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B9E25-6ADC-EA57-4467-282F45667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DFE9B-2C92-9DF8-24A0-27C7E62AF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088061" cy="1478570"/>
          </a:xfrm>
        </p:spPr>
        <p:txBody>
          <a:bodyPr>
            <a:normAutofit/>
          </a:bodyPr>
          <a:lstStyle/>
          <a:p>
            <a:r>
              <a:rPr lang="de-DE" sz="4800" u="sng" dirty="0"/>
              <a:t> Zentralisierte Systeme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060711D-F3E5-D6EE-128E-9622BF1F68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527" y="2281754"/>
            <a:ext cx="1105058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Nachteile: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Serverausfall &gt; gesamte Arbeit stoppt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Offline-Arbeiten nahezu unmöglich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Parallelität stark eingeschränkt, da alle Entwickler auf denselben Server zugreifen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Arbeitsweise: </a:t>
            </a:r>
            <a:r>
              <a:rPr lang="de-DE" altLang="de-DE" dirty="0" err="1">
                <a:latin typeface="Arial" panose="020B0604020202020204" pitchFamily="34" charset="0"/>
              </a:rPr>
              <a:t>Commits</a:t>
            </a:r>
            <a:r>
              <a:rPr lang="de-DE" altLang="de-DE" dirty="0">
                <a:latin typeface="Arial" panose="020B0604020202020204" pitchFamily="34" charset="0"/>
              </a:rPr>
              <a:t> erfolgen nacheinander auf den Server, Änderungen werden linear gespeichert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460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A0824-706E-D576-199E-C38849394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BBB5F3-B34B-C20E-CA8E-C5C254A46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088061" cy="1478570"/>
          </a:xfrm>
        </p:spPr>
        <p:txBody>
          <a:bodyPr>
            <a:normAutofit/>
          </a:bodyPr>
          <a:lstStyle/>
          <a:p>
            <a:r>
              <a:rPr lang="de-DE" sz="4800" u="sng" dirty="0"/>
              <a:t> Verteilte Systeme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EA81BA8-B3E2-07E1-EE4D-190C2B49D3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2527" y="2097088"/>
            <a:ext cx="1105058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Definition: DVCS speichert das komplette Repository lokal bei jedem Entwickler.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Beispiele: </a:t>
            </a:r>
            <a:r>
              <a:rPr lang="de-DE" altLang="de-DE" dirty="0" err="1">
                <a:latin typeface="Arial" panose="020B0604020202020204" pitchFamily="34" charset="0"/>
              </a:rPr>
              <a:t>Git</a:t>
            </a:r>
            <a:r>
              <a:rPr lang="de-DE" altLang="de-DE" dirty="0">
                <a:latin typeface="Arial" panose="020B0604020202020204" pitchFamily="34" charset="0"/>
              </a:rPr>
              <a:t>, </a:t>
            </a:r>
            <a:r>
              <a:rPr lang="de-DE" altLang="de-DE" dirty="0" err="1">
                <a:latin typeface="Arial" panose="020B0604020202020204" pitchFamily="34" charset="0"/>
              </a:rPr>
              <a:t>Mercurial</a:t>
            </a: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Vorteile: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Offline-Arbeit möglich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Schnelle lokale </a:t>
            </a:r>
            <a:r>
              <a:rPr lang="de-DE" altLang="de-DE" dirty="0" err="1">
                <a:latin typeface="Arial" panose="020B0604020202020204" pitchFamily="34" charset="0"/>
              </a:rPr>
              <a:t>Commits</a:t>
            </a:r>
            <a:endParaRPr lang="de-DE" altLang="de-DE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Flexible </a:t>
            </a:r>
            <a:r>
              <a:rPr lang="de-DE" altLang="de-DE" dirty="0" err="1">
                <a:latin typeface="Arial" panose="020B0604020202020204" pitchFamily="34" charset="0"/>
              </a:rPr>
              <a:t>Branching</a:t>
            </a:r>
            <a:r>
              <a:rPr lang="de-DE" altLang="de-DE" dirty="0">
                <a:latin typeface="Arial" panose="020B0604020202020204" pitchFamily="34" charset="0"/>
              </a:rPr>
              <a:t>-Strategien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de-DE" altLang="de-DE" dirty="0">
                <a:latin typeface="Arial" panose="020B0604020202020204" pitchFamily="34" charset="0"/>
              </a:rPr>
              <a:t>Hohe Ausfallsicherheit (jede Kopie ist ein Backup)</a:t>
            </a:r>
          </a:p>
        </p:txBody>
      </p:sp>
    </p:spTree>
    <p:extLst>
      <p:ext uri="{BB962C8B-B14F-4D97-AF65-F5344CB8AC3E}">
        <p14:creationId xmlns:p14="http://schemas.microsoft.com/office/powerpoint/2010/main" val="305267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EF599-9E71-3AE3-96F6-34CD5B8C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B2C9BD-F1B1-6E2B-34EC-66B9E863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0088061" cy="1478570"/>
          </a:xfrm>
        </p:spPr>
        <p:txBody>
          <a:bodyPr>
            <a:normAutofit/>
          </a:bodyPr>
          <a:lstStyle/>
          <a:p>
            <a:r>
              <a:rPr lang="de-DE" sz="4800" u="sng" dirty="0"/>
              <a:t> Verteilte Systeme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807FAC-7432-E517-D818-720B272348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3790" y="2274838"/>
            <a:ext cx="1059170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Nachteile: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Einarbeitung für neue Entwickler notwendig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Speicherbedarf bei sehr großen Projekten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Arbeitsweise: Jeder Entwickler kann unabhängig Änderungen </a:t>
            </a:r>
            <a:r>
              <a:rPr lang="de-DE" altLang="de-DE" dirty="0" err="1">
                <a:latin typeface="Arial" panose="020B0604020202020204" pitchFamily="34" charset="0"/>
              </a:rPr>
              <a:t>commiten</a:t>
            </a:r>
            <a:r>
              <a:rPr lang="de-DE" altLang="de-DE" dirty="0">
                <a:latin typeface="Arial" panose="020B0604020202020204" pitchFamily="34" charset="0"/>
              </a:rPr>
              <a:t>, testen, </a:t>
            </a:r>
            <a:r>
              <a:rPr lang="de-DE" altLang="de-DE" dirty="0" err="1">
                <a:latin typeface="Arial" panose="020B0604020202020204" pitchFamily="34" charset="0"/>
              </a:rPr>
              <a:t>Branches</a:t>
            </a:r>
            <a:r>
              <a:rPr lang="de-DE" altLang="de-DE" dirty="0">
                <a:latin typeface="Arial" panose="020B0604020202020204" pitchFamily="34" charset="0"/>
              </a:rPr>
              <a:t> anlegen und später in ein zentrales Repository pushen</a:t>
            </a:r>
          </a:p>
        </p:txBody>
      </p:sp>
    </p:spTree>
    <p:extLst>
      <p:ext uri="{BB962C8B-B14F-4D97-AF65-F5344CB8AC3E}">
        <p14:creationId xmlns:p14="http://schemas.microsoft.com/office/powerpoint/2010/main" val="1379865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CFB8B1-6449-8443-0A3B-6D2240ED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Vergleich Zentralisiert (CVCS) vs. Verteiltes System (DVCS)</a:t>
            </a:r>
            <a:br>
              <a:rPr lang="de-DE" dirty="0"/>
            </a:br>
            <a:br>
              <a:rPr lang="de-DE" dirty="0"/>
            </a:br>
            <a:endParaRPr lang="de-DE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E2BD7CB9-6C7A-5CA3-A6A6-D948EC95E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127234"/>
              </p:ext>
            </p:extLst>
          </p:nvPr>
        </p:nvGraphicFramePr>
        <p:xfrm>
          <a:off x="1141413" y="2097088"/>
          <a:ext cx="9606798" cy="360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2266">
                  <a:extLst>
                    <a:ext uri="{9D8B030D-6E8A-4147-A177-3AD203B41FA5}">
                      <a16:colId xmlns:a16="http://schemas.microsoft.com/office/drawing/2014/main" val="2547925071"/>
                    </a:ext>
                  </a:extLst>
                </a:gridCol>
                <a:gridCol w="3202266">
                  <a:extLst>
                    <a:ext uri="{9D8B030D-6E8A-4147-A177-3AD203B41FA5}">
                      <a16:colId xmlns:a16="http://schemas.microsoft.com/office/drawing/2014/main" val="3266871"/>
                    </a:ext>
                  </a:extLst>
                </a:gridCol>
                <a:gridCol w="3202266">
                  <a:extLst>
                    <a:ext uri="{9D8B030D-6E8A-4147-A177-3AD203B41FA5}">
                      <a16:colId xmlns:a16="http://schemas.microsoft.com/office/drawing/2014/main" val="1873931237"/>
                    </a:ext>
                  </a:extLst>
                </a:gridCol>
              </a:tblGrid>
              <a:tr h="60118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Merkmale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Zentralisiert (CVCS)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Verteiltes System (DVCS)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224336"/>
                  </a:ext>
                </a:extLst>
              </a:tr>
              <a:tr h="6011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Speicherort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Lokal bei jedem Entwickler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177692"/>
                  </a:ext>
                </a:extLst>
              </a:tr>
              <a:tr h="6011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Offline-Funktionalität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Eingeschränkt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Voll möglich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9104117"/>
                  </a:ext>
                </a:extLst>
              </a:tr>
              <a:tr h="60118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Ausfallsicherheit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476955"/>
                  </a:ext>
                </a:extLst>
              </a:tr>
              <a:tr h="60118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Geschwindigkeit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Netzwerkabhängig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Lokal sehr schnell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871268"/>
                  </a:ext>
                </a:extLst>
              </a:tr>
              <a:tr h="601180"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Parallelität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Begrenzt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Sehr flexible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146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6568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F4074-5074-06CC-4D7E-AE9B1F48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6E7EA-133F-0B59-90EF-CEADDDA3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486" y="510580"/>
            <a:ext cx="11403514" cy="1478570"/>
          </a:xfrm>
        </p:spPr>
        <p:txBody>
          <a:bodyPr>
            <a:normAutofit/>
          </a:bodyPr>
          <a:lstStyle/>
          <a:p>
            <a:r>
              <a:rPr lang="de-DE" sz="4800" u="sng" dirty="0"/>
              <a:t> Technische Darstellung: </a:t>
            </a:r>
            <a:r>
              <a:rPr lang="de-DE" sz="4800" u="sng" dirty="0" err="1"/>
              <a:t>Git</a:t>
            </a:r>
            <a:r>
              <a:rPr lang="de-DE" sz="4800" u="sng" dirty="0"/>
              <a:t> Graph</a:t>
            </a:r>
          </a:p>
        </p:txBody>
      </p:sp>
      <p:pic>
        <p:nvPicPr>
          <p:cNvPr id="3" name="Inhaltsplatzhalter 2">
            <a:extLst>
              <a:ext uri="{FF2B5EF4-FFF2-40B4-BE49-F238E27FC236}">
                <a16:creationId xmlns:a16="http://schemas.microsoft.com/office/drawing/2014/main" id="{B6018D81-8067-7E1F-A014-FFCC55CBA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723" y="1522581"/>
            <a:ext cx="10838553" cy="560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657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6AF05-BC4E-1123-E352-73B038323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FFC80C-53A2-57F5-A615-C4204569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1628104" cy="1478570"/>
          </a:xfrm>
        </p:spPr>
        <p:txBody>
          <a:bodyPr>
            <a:normAutofit/>
          </a:bodyPr>
          <a:lstStyle/>
          <a:p>
            <a:r>
              <a:rPr lang="de-DE" sz="4800" dirty="0"/>
              <a:t>Konsequenzen für Arbeitsprozesse</a:t>
            </a:r>
            <a:endParaRPr lang="de-DE" sz="4800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FBF8F7-49FE-C3CC-1DC3-EFA151F6A6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2747898"/>
            <a:ext cx="1059170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Parallele Entwicklung möglich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Lokale </a:t>
            </a:r>
            <a:r>
              <a:rPr lang="de-DE" altLang="de-DE" dirty="0" err="1">
                <a:latin typeface="Arial" panose="020B0604020202020204" pitchFamily="34" charset="0"/>
              </a:rPr>
              <a:t>Commits</a:t>
            </a:r>
            <a:r>
              <a:rPr lang="de-DE" altLang="de-DE" dirty="0">
                <a:latin typeface="Arial" panose="020B0604020202020204" pitchFamily="34" charset="0"/>
              </a:rPr>
              <a:t> &amp; Tests beschleunigen Feedbackzyklen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Unterschiedliche </a:t>
            </a:r>
            <a:r>
              <a:rPr lang="de-DE" altLang="de-DE" dirty="0" err="1">
                <a:latin typeface="Arial" panose="020B0604020202020204" pitchFamily="34" charset="0"/>
              </a:rPr>
              <a:t>Merge</a:t>
            </a:r>
            <a:r>
              <a:rPr lang="de-DE" altLang="de-DE" dirty="0">
                <a:latin typeface="Arial" panose="020B0604020202020204" pitchFamily="34" charset="0"/>
              </a:rPr>
              <a:t>-Methoden (Fast-Forward, </a:t>
            </a:r>
            <a:r>
              <a:rPr lang="de-DE" altLang="de-DE" dirty="0" err="1">
                <a:latin typeface="Arial" panose="020B0604020202020204" pitchFamily="34" charset="0"/>
              </a:rPr>
              <a:t>Rebase</a:t>
            </a:r>
            <a:r>
              <a:rPr lang="de-DE" altLang="de-DE" dirty="0">
                <a:latin typeface="Arial" panose="020B0604020202020204" pitchFamily="34" charset="0"/>
              </a:rPr>
              <a:t>, </a:t>
            </a:r>
            <a:r>
              <a:rPr lang="de-DE" altLang="de-DE" dirty="0" err="1">
                <a:latin typeface="Arial" panose="020B0604020202020204" pitchFamily="34" charset="0"/>
              </a:rPr>
              <a:t>Merge</a:t>
            </a:r>
            <a:r>
              <a:rPr lang="de-DE" altLang="de-DE" dirty="0">
                <a:latin typeface="Arial" panose="020B0604020202020204" pitchFamily="34" charset="0"/>
              </a:rPr>
              <a:t> Commit)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dirty="0">
                <a:latin typeface="Arial" panose="020B0604020202020204" pitchFamily="34" charset="0"/>
              </a:rPr>
              <a:t>Weniger Absprachen notwendig als bei CVCS</a:t>
            </a:r>
          </a:p>
        </p:txBody>
      </p:sp>
    </p:spTree>
    <p:extLst>
      <p:ext uri="{BB962C8B-B14F-4D97-AF65-F5344CB8AC3E}">
        <p14:creationId xmlns:p14="http://schemas.microsoft.com/office/powerpoint/2010/main" val="4009680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33D04-1D5E-AF9A-8586-5F2E151D9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57EC0-C3B3-648E-9A7C-E662B6F37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11628104" cy="1478570"/>
          </a:xfrm>
        </p:spPr>
        <p:txBody>
          <a:bodyPr>
            <a:normAutofit/>
          </a:bodyPr>
          <a:lstStyle/>
          <a:p>
            <a:r>
              <a:rPr lang="de-DE" sz="4800" dirty="0"/>
              <a:t>Zusammenfassung Leitfrage 1</a:t>
            </a:r>
            <a:endParaRPr lang="de-DE" sz="4800" u="sng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C27850-7409-D126-92BD-8EDAEC05CB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5792" y="2634300"/>
            <a:ext cx="10161628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DVCS: flexibel, offline, schnelle </a:t>
            </a:r>
            <a:r>
              <a:rPr kumimoji="0" lang="de-DE" altLang="de-DE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Commits</a:t>
            </a: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hohe Ausfallsicherheit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de-DE" altLang="de-DE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CVCS: einfache Struktur, zentrale Kontrolle, Offline-Arbeit eingeschränkt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endParaRPr kumimoji="0" lang="de-DE" altLang="de-D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DVCS ist vorteilhaft für Teams, parallele Arbeit und komplexe Projekte</a:t>
            </a:r>
          </a:p>
        </p:txBody>
      </p:sp>
    </p:spTree>
    <p:extLst>
      <p:ext uri="{BB962C8B-B14F-4D97-AF65-F5344CB8AC3E}">
        <p14:creationId xmlns:p14="http://schemas.microsoft.com/office/powerpoint/2010/main" val="34271227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5_TF77815013" id="{04FF5A99-61E7-430B-AE6F-491A1D25D07E}" vid="{DB37A2E5-7D94-4BCB-A9E4-00BDC700153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Zyklus ProblemLösung </Template>
  <TotalTime>0</TotalTime>
  <Words>413</Words>
  <Application>Microsoft Office PowerPoint</Application>
  <PresentationFormat>Breitbild</PresentationFormat>
  <Paragraphs>102</Paragraphs>
  <Slides>13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Arial</vt:lpstr>
      <vt:lpstr>Calibri</vt:lpstr>
      <vt:lpstr>Rockwell</vt:lpstr>
      <vt:lpstr>Tahoma</vt:lpstr>
      <vt:lpstr>Tw Cen MT</vt:lpstr>
      <vt:lpstr>Schaltkreis</vt:lpstr>
      <vt:lpstr>Versionskontrollsysteme im Softwareengineering</vt:lpstr>
      <vt:lpstr>Inhaltsverzeichnis</vt:lpstr>
      <vt:lpstr>Inhaltsverzeichnis</vt:lpstr>
      <vt:lpstr> Teil1: Einleitung Leitfrage 1</vt:lpstr>
      <vt:lpstr> Zielsetzung von Versionskontrollsystemen</vt:lpstr>
      <vt:lpstr> Zentralisierte Systeme</vt:lpstr>
      <vt:lpstr> Zentralisierte Systeme</vt:lpstr>
      <vt:lpstr> Verteilte Systeme</vt:lpstr>
      <vt:lpstr> Verteilte Systeme</vt:lpstr>
      <vt:lpstr>Vergleich Zentralisiert (CVCS) vs. Verteiltes System (DVCS)  </vt:lpstr>
      <vt:lpstr> Technische Darstellung: Git Graph</vt:lpstr>
      <vt:lpstr>Konsequenzen für Arbeitsprozesse</vt:lpstr>
      <vt:lpstr>Zusammenfassung Leitfrage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Wobby</dc:creator>
  <cp:lastModifiedBy>Wobby</cp:lastModifiedBy>
  <cp:revision>6</cp:revision>
  <dcterms:created xsi:type="dcterms:W3CDTF">2025-12-09T11:29:31Z</dcterms:created>
  <dcterms:modified xsi:type="dcterms:W3CDTF">2025-12-10T07:38:53Z</dcterms:modified>
</cp:coreProperties>
</file>