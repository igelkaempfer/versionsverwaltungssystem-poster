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9" r:id="rId1"/>
  </p:sldMasterIdLst>
  <p:notesMasterIdLst>
    <p:notesMasterId r:id="rId29"/>
  </p:notesMasterIdLst>
  <p:handoutMasterIdLst>
    <p:handoutMasterId r:id="rId30"/>
  </p:handoutMasterIdLst>
  <p:sldIdLst>
    <p:sldId id="256" r:id="rId2"/>
    <p:sldId id="288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92" r:id="rId12"/>
    <p:sldId id="272" r:id="rId13"/>
    <p:sldId id="273" r:id="rId14"/>
    <p:sldId id="274" r:id="rId15"/>
    <p:sldId id="275" r:id="rId16"/>
    <p:sldId id="276" r:id="rId17"/>
    <p:sldId id="277" r:id="rId18"/>
    <p:sldId id="285" r:id="rId19"/>
    <p:sldId id="286" r:id="rId20"/>
    <p:sldId id="287" r:id="rId21"/>
    <p:sldId id="284" r:id="rId22"/>
    <p:sldId id="283" r:id="rId23"/>
    <p:sldId id="289" r:id="rId24"/>
    <p:sldId id="290" r:id="rId25"/>
    <p:sldId id="291" r:id="rId26"/>
    <p:sldId id="294" r:id="rId27"/>
    <p:sldId id="293" r:id="rId28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5D9682-1B08-4344-8F86-CF1240FE40B9}" v="252" dt="2025-12-14T12:30:31.161"/>
    <p1510:client id="{CD4AC741-327A-4B04-8B6B-A8C8268096F9}" v="6" dt="2025-12-13T16:57:46.813"/>
    <p1510:client id="{EFEDB106-97ED-4E72-BCE0-C35D79390737}" v="972" dt="2025-12-14T14:28:01.7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03" autoAdjust="0"/>
    <p:restoredTop sz="94660"/>
  </p:normalViewPr>
  <p:slideViewPr>
    <p:cSldViewPr snapToGrid="0">
      <p:cViewPr varScale="1">
        <p:scale>
          <a:sx n="68" d="100"/>
          <a:sy n="68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80F48B6-5B74-492F-8C77-22AA2F9DF1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6D0857B-1418-4191-8062-6C804F6154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FD645E-5B78-4A7E-8787-9789C929C889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F8D3872-5A76-4844-8F69-62285C3556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BC596D5-D3AF-4913-9CBD-8BDF45498A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8AB19E-CF68-4924-B2FF-8A36A1E4B6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8185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noProof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87A7E-606D-4085-B5D9-B84283FD64F4}" type="datetimeFigureOut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Textmasterformate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CFCAB-7ED9-4BDC-8A18-79F8B7017FB3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7797958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CFCAB-7ED9-4BDC-8A18-79F8B7017FB3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6292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5A53-8DB7-14BF-BE97-5E62F75B2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36042D9-C1B8-B3F6-661F-6DF43C0D1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716643F-2BF6-C45C-9945-923CA4826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EEA539-E9E6-C9BB-774C-703C4D437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CFCAB-7ED9-4BDC-8A18-79F8B7017FB3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2498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Bild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pe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hteck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ihand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ihand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hteck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ihand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ihand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ihand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ihand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ihand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ihand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ihand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ihand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ihand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ihand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ihand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ihand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ihand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ihand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ihand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ihand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ihand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ihand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ihand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ihand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ihand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ihand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ihand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ihand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hteck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ihand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ihand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ihand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ihand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ihand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ihand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ihand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ihand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ihand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ihand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ihand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hteck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ihand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ihand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ihand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ihand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ihand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ihand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ihand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ihand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ihand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ihand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ihand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ihand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ihand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E65ECE90-F0EE-4F95-A4D6-9553681A4118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7429FF-E701-41E6-BBD6-3DAA8A4FDD17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A735972-D23C-4C06-A90F-7E177E51D8A5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267FB7-9715-4B0B-9D54-63DB951757DA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141411" y="2249486"/>
            <a:ext cx="487839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249485"/>
            <a:ext cx="4875210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2D9358-9B6C-49CC-B48B-A0EC2BEE25AA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68C43B-19DA-40F6-A6C2-62C92DA2F478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307DD8-3BCB-45FD-8DD6-D4739589AF24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7CF610-71C6-4F02-9DF7-5393C40B0D8C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B7C2B1-7872-4D0C-8DD1-66F3A9CC0D2B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it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D2A15A-57A8-4927-A48B-A37508C6D80C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4ACC8C-9E52-4564-B96D-197D3A25204B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2" name="Textplatzhalter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DCBF52-DF82-45B8-AFB2-192026FCEF0B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  <p:sp>
        <p:nvSpPr>
          <p:cNvPr id="60" name="Textfeld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de-DE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61" name="Textfeld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de-DE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iten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759A2E-21D5-453B-A564-79D9436F845E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"/>
          <p:cNvSpPr>
            <a:spLocks noGrp="1"/>
          </p:cNvSpPr>
          <p:nvPr>
            <p:ph type="title" hasCustomPrompt="1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7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8" name="Textplatzhalter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11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12" name="Textplatzhalter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406C86-20FB-4D97-ABF3-9E01D6DC929C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el 1"/>
          <p:cNvSpPr>
            <a:spLocks noGrp="1"/>
          </p:cNvSpPr>
          <p:nvPr>
            <p:ph type="title" hasCustomPrompt="1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9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20" name="Bildplatzhalter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de-DE" noProof="0"/>
              <a:t>Klicken Sie, um ein Bild hinzuzufügen.</a:t>
            </a:r>
          </a:p>
        </p:txBody>
      </p:sp>
      <p:sp>
        <p:nvSpPr>
          <p:cNvPr id="21" name="Textplatzhalter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22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23" name="Bildplatzhalter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de-DE" noProof="0"/>
              <a:t>Klicken Sie, um ein Bild hinzuzufügen.</a:t>
            </a:r>
          </a:p>
        </p:txBody>
      </p:sp>
      <p:sp>
        <p:nvSpPr>
          <p:cNvPr id="24" name="Textplatzhalter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25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26" name="Bildplatzhalter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de-DE" noProof="0"/>
              <a:t>Klicken Sie, um ein Bild hinzuzufügen.</a:t>
            </a:r>
          </a:p>
        </p:txBody>
      </p:sp>
      <p:sp>
        <p:nvSpPr>
          <p:cNvPr id="27" name="Textplatzhalter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5F7AEE-592C-44FD-9886-D0CED9EEAF26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1AB1F9-918A-4C3E-93FF-21A70E6F17F5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AEFFED-E864-4D0F-9BE9-A460B4A8EDEA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uppe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uppe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hteck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ihand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ihand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ihand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ihand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ihand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ihand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ihand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ihand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ihand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ihand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i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ihand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ihand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ihand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ihand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hteck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ihand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ihand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ihand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ihand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ihand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ihand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ihand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ihand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ihand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ihand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uppe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ihand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ihand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ihand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ihand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ihand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ihand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ihand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ihand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ihand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hteck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de-DE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2A2B574-5906-4FAF-BD1A-9F0EA7FF1031}" type="datetime1">
              <a:rPr lang="de-DE" noProof="0" smtClean="0"/>
              <a:t>16.12.2025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book/de/v2/Erste-SchritteWasistVersionsverwaltung%3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3730" y="0"/>
            <a:ext cx="8791575" cy="2387600"/>
          </a:xfrm>
        </p:spPr>
        <p:txBody>
          <a:bodyPr rtlCol="0">
            <a:normAutofit/>
          </a:bodyPr>
          <a:lstStyle/>
          <a:p>
            <a:pPr algn="ctr"/>
            <a:r>
              <a:rPr lang="de-DE" sz="5400"/>
              <a:t>Versionskontrollsysteme im Softwareengineering</a:t>
            </a:r>
            <a:endParaRPr lang="de-DE" sz="5400">
              <a:latin typeface="Rockwell" panose="02060603020205020403" pitchFamily="18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7736" y="5663953"/>
            <a:ext cx="6004264" cy="2610035"/>
          </a:xfrm>
        </p:spPr>
        <p:txBody>
          <a:bodyPr rtlCol="0">
            <a:normAutofit/>
          </a:bodyPr>
          <a:lstStyle/>
          <a:p>
            <a:r>
              <a:rPr lang="de-DE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Gruppen Mitglieder:</a:t>
            </a:r>
            <a:endParaRPr lang="de-DE" sz="1200" dirty="0"/>
          </a:p>
          <a:p>
            <a:r>
              <a:rPr lang="de-DE" dirty="0"/>
              <a:t> </a:t>
            </a:r>
            <a:r>
              <a:rPr lang="de-DE" sz="1050" dirty="0"/>
              <a:t>Richard Willy </a:t>
            </a:r>
            <a:r>
              <a:rPr lang="de-DE" sz="1050" dirty="0" err="1"/>
              <a:t>Krompos</a:t>
            </a:r>
            <a:r>
              <a:rPr lang="de-DE" sz="1050" dirty="0"/>
              <a:t>, Maxim Andreev, Lennox-Bennet Wobbrock, </a:t>
            </a:r>
            <a:r>
              <a:rPr lang="de-DE" sz="1050" dirty="0" err="1"/>
              <a:t>Staelle</a:t>
            </a:r>
            <a:r>
              <a:rPr lang="de-DE" sz="1050" dirty="0"/>
              <a:t> Brenda Magne Signe, Manuella </a:t>
            </a:r>
            <a:r>
              <a:rPr lang="de-DE" sz="1050" dirty="0" err="1"/>
              <a:t>Tresia</a:t>
            </a:r>
            <a:r>
              <a:rPr lang="de-DE" sz="1050" dirty="0"/>
              <a:t> </a:t>
            </a:r>
            <a:r>
              <a:rPr lang="de-DE" sz="1050" dirty="0" err="1"/>
              <a:t>Fangoe</a:t>
            </a:r>
            <a:r>
              <a:rPr lang="de-DE" sz="1050" dirty="0"/>
              <a:t> </a:t>
            </a:r>
            <a:r>
              <a:rPr lang="de-DE" sz="1050" dirty="0" err="1"/>
              <a:t>Kwekam</a:t>
            </a:r>
            <a:r>
              <a:rPr lang="de-DE" sz="1050" dirty="0"/>
              <a:t>, Aaron Curtis Hako Aust, Alex </a:t>
            </a:r>
            <a:r>
              <a:rPr lang="de-DE" sz="1050" dirty="0" err="1"/>
              <a:t>Fokou</a:t>
            </a:r>
            <a:r>
              <a:rPr lang="de-DE" sz="1050" dirty="0"/>
              <a:t> </a:t>
            </a:r>
            <a:r>
              <a:rPr lang="de-DE" sz="1050" dirty="0" err="1"/>
              <a:t>Tchinda</a:t>
            </a:r>
            <a:r>
              <a:rPr lang="de-DE" sz="1050" dirty="0"/>
              <a:t> </a:t>
            </a:r>
            <a:endParaRPr lang="de-DE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927D3-ED02-14EC-834F-DE62ED697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074B6D36-3577-0F03-39E8-01DCFE4302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34" t="3367" r="45768" b="63221"/>
          <a:stretch>
            <a:fillRect/>
          </a:stretch>
        </p:blipFill>
        <p:spPr>
          <a:xfrm>
            <a:off x="2825836" y="1087502"/>
            <a:ext cx="6078171" cy="3846643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CD8C6FC1-609A-90BE-E8C2-6425ABECE5B6}"/>
              </a:ext>
            </a:extLst>
          </p:cNvPr>
          <p:cNvSpPr txBox="1"/>
          <p:nvPr/>
        </p:nvSpPr>
        <p:spPr>
          <a:xfrm>
            <a:off x="7772400" y="4934145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Abbildung 1</a:t>
            </a:r>
          </a:p>
        </p:txBody>
      </p:sp>
    </p:spTree>
    <p:extLst>
      <p:ext uri="{BB962C8B-B14F-4D97-AF65-F5344CB8AC3E}">
        <p14:creationId xmlns:p14="http://schemas.microsoft.com/office/powerpoint/2010/main" val="2330339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B715B1-ACDE-4103-46FF-B494BE98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800" u="sng"/>
              <a:t>Inhaltsverzeichnis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06BBB8-CBAE-155D-01B4-41D195DB16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004186"/>
            <a:ext cx="1005597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Einleitung</a:t>
            </a:r>
            <a:endParaRPr kumimoji="0" lang="de-DE" altLang="de-DE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Vorstellung &amp; Ziel der Präsentation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Leitfragen vorstellen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Leitfrage 1: Vorteile verteilter vs. zentralisierter VCS</a:t>
            </a:r>
            <a:endParaRPr kumimoji="0" lang="de-DE" altLang="de-DE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Zielsetzung von Versionskontrollsystemen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Zentralisierte Systeme (CVCS)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Verteilte Systeme (DVCS)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Vergleich CVCS vs. DVCS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Technische Darstellung (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Graph)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Zusammenfassung Leitfrage 1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814F32-5487-51B6-C4E1-0AB304D8F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3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931648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854A2-B7AE-181D-8E46-6A24FA42E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D65075-ABB8-A08D-AF01-37E65749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800" u="sng"/>
              <a:t>Inhaltsverzeichnis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4BD7F2A-013E-B442-5D92-395106CF8A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727210"/>
            <a:ext cx="852797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b="1" u="sng" dirty="0">
                <a:latin typeface="Arial" panose="020B0604020202020204" pitchFamily="34" charset="0"/>
              </a:rPr>
              <a:t>Leitfrage 2: </a:t>
            </a:r>
            <a:r>
              <a:rPr lang="de-DE" altLang="de-DE" b="1" u="sng" dirty="0" err="1">
                <a:latin typeface="Arial" panose="020B0604020202020204" pitchFamily="34" charset="0"/>
              </a:rPr>
              <a:t>Branching</a:t>
            </a:r>
            <a:r>
              <a:rPr lang="de-DE" altLang="de-DE" b="1" u="sng" dirty="0">
                <a:latin typeface="Arial" panose="020B0604020202020204" pitchFamily="34" charset="0"/>
              </a:rPr>
              <a:t>-Strategien &amp; Softwarequalität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 err="1">
                <a:latin typeface="Arial" panose="020B0604020202020204" pitchFamily="34" charset="0"/>
              </a:rPr>
              <a:t>Branching</a:t>
            </a:r>
            <a:r>
              <a:rPr lang="de-DE" altLang="de-DE" dirty="0">
                <a:latin typeface="Arial" panose="020B0604020202020204" pitchFamily="34" charset="0"/>
              </a:rPr>
              <a:t>-Grundlagen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Trunk-</a:t>
            </a:r>
            <a:r>
              <a:rPr lang="de-DE" altLang="de-DE" dirty="0" err="1">
                <a:latin typeface="Arial" panose="020B0604020202020204" pitchFamily="34" charset="0"/>
              </a:rPr>
              <a:t>Based</a:t>
            </a:r>
            <a:r>
              <a:rPr lang="de-DE" altLang="de-DE" dirty="0">
                <a:latin typeface="Arial" panose="020B0604020202020204" pitchFamily="34" charset="0"/>
              </a:rPr>
              <a:t> Development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/>
                <a:cs typeface="Arial"/>
              </a:rPr>
              <a:t>Feature </a:t>
            </a:r>
            <a:r>
              <a:rPr lang="de-DE" altLang="de-DE" dirty="0" err="1">
                <a:latin typeface="Arial"/>
                <a:cs typeface="Arial"/>
              </a:rPr>
              <a:t>Branching</a:t>
            </a:r>
            <a:endParaRPr lang="de-DE" altLang="de-DE" dirty="0">
              <a:latin typeface="Arial" panose="020B0604020202020204" pitchFamily="34" charset="0"/>
              <a:cs typeface="Arial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 err="1">
                <a:latin typeface="Arial" panose="020B0604020202020204" pitchFamily="34" charset="0"/>
              </a:rPr>
              <a:t>Forking</a:t>
            </a:r>
            <a:r>
              <a:rPr lang="de-DE" altLang="de-DE" dirty="0">
                <a:latin typeface="Arial" panose="020B0604020202020204" pitchFamily="34" charset="0"/>
              </a:rPr>
              <a:t> Workflow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Auswirkungen auf Softwarequalität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Zusammenfassung Leitfrage 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b="1" u="sng" dirty="0">
                <a:latin typeface="Arial" panose="020B0604020202020204" pitchFamily="34" charset="0"/>
              </a:rPr>
              <a:t>Zukunftsaussichten und Trends in der Versionskontrolle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Zukunftsaussichten von Versionskontrollsystemen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dirty="0">
                <a:latin typeface="Arial" panose="020B0604020202020204" pitchFamily="34" charset="0"/>
              </a:rPr>
              <a:t>Technische Trends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dirty="0">
                <a:latin typeface="Arial" panose="020B0604020202020204" pitchFamily="34" charset="0"/>
              </a:rPr>
              <a:t>Bedeutung für Entwickler &amp; Teams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b="1" u="sng" dirty="0">
                <a:latin typeface="Arial" panose="020B0604020202020204" pitchFamily="34" charset="0"/>
              </a:rPr>
              <a:t>Fazit &amp; Quellen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7F8C7D-21C3-CE4B-F445-125220CB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4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450999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7BCFA-87A3-C904-CF4B-C2AFC1271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468C8C-1D82-0F2A-4A4B-02D69EA3D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800" u="sng"/>
              <a:t> Teil1: Einleitung Leitfrage 1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A778F5B-AF7E-6EC7-A89B-0684C05EAC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9118" y="2890391"/>
            <a:ext cx="1105058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de-DE" sz="3200"/>
              <a:t>Welche Vorteile bietet ein verteiltes Versionskontrollsystem im Vergleich zu einem zentralisierten Modell?</a:t>
            </a:r>
            <a:endParaRPr lang="de-DE" altLang="de-DE" sz="3200" b="1" u="sng">
              <a:latin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69A5AB-9A82-B21E-7C92-1616742E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5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90553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33DD7-6D2E-F32C-1B49-22D1FCA7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B17E72-FEE7-F68C-8EF3-07FDE724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088061" cy="1478570"/>
          </a:xfrm>
        </p:spPr>
        <p:txBody>
          <a:bodyPr>
            <a:normAutofit/>
          </a:bodyPr>
          <a:lstStyle/>
          <a:p>
            <a:r>
              <a:rPr lang="de-DE" sz="4800" u="sng"/>
              <a:t> Zielsetzung von Versionskontrollsystemen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853EAB1-8A3D-6A30-8117-3B9C67915D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2527" y="1912422"/>
            <a:ext cx="1105058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Änderungen nachvollziehen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Historie &amp; alte Versionen wiederherstellen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Paralleles Arbeiten im Team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Dokumentation für spätere Bearbeitung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Zitat: </a:t>
            </a:r>
            <a:r>
              <a:rPr lang="de-DE" dirty="0"/>
              <a:t>„Versionsverwaltung ist ein System, welches die Änderungen an einer oder einer Reihe von Dateien über die Zeit hinweg protokolliert, sodass man später auf eine bestimmte Version zurückgreifen kann“</a:t>
            </a:r>
            <a:r>
              <a:rPr lang="de-DE" altLang="de-DE" dirty="0">
                <a:latin typeface="Arial" panose="020B0604020202020204" pitchFamily="34" charset="0"/>
              </a:rPr>
              <a:t>[1]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857B8E-1C9C-8F4A-DCC0-50FDDE1C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6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83449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8501F-2FAD-71FA-0929-067A5D6A1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7601BD-2469-12BB-1AA9-76CA6AD90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088061" cy="1478570"/>
          </a:xfrm>
        </p:spPr>
        <p:txBody>
          <a:bodyPr>
            <a:normAutofit/>
          </a:bodyPr>
          <a:lstStyle/>
          <a:p>
            <a:r>
              <a:rPr lang="de-DE" sz="4800" u="sng"/>
              <a:t> Zentralisierte Systeme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9543C9D-554F-CE4D-AFDD-7A22F162D9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2527" y="2281754"/>
            <a:ext cx="1105058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>
                <a:latin typeface="Arial" panose="020B0604020202020204" pitchFamily="34" charset="0"/>
              </a:rPr>
              <a:t>Definition: Ein CVCS speichert das gesamte Projekt auf einem zentralen Server. Entwickler benötigen eine Verbindung, um Änderungen zu machen.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>
                <a:latin typeface="Arial" panose="020B0604020202020204" pitchFamily="34" charset="0"/>
              </a:rPr>
              <a:t>Beispiele: Subversion (SVN), CVS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>
                <a:latin typeface="Arial" panose="020B0604020202020204" pitchFamily="34" charset="0"/>
              </a:rPr>
              <a:t>Vorteile: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>
                <a:latin typeface="Arial" panose="020B0604020202020204" pitchFamily="34" charset="0"/>
              </a:rPr>
              <a:t>Klare zentrale Kontrolle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>
                <a:latin typeface="Arial" panose="020B0604020202020204" pitchFamily="34" charset="0"/>
              </a:rPr>
              <a:t>Einfache Rechteverwaltung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>
                <a:latin typeface="Arial" panose="020B0604020202020204" pitchFamily="34" charset="0"/>
              </a:rPr>
              <a:t>Geeignet für kleine Teams oder Projekte mit geringer Parallelität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1F46B9-1327-E5C8-FFA3-D6D82171F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7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916446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B9E25-6ADC-EA57-4467-282F45667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0DFE9B-2C92-9DF8-24A0-27C7E62AF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088061" cy="1478570"/>
          </a:xfrm>
        </p:spPr>
        <p:txBody>
          <a:bodyPr>
            <a:normAutofit/>
          </a:bodyPr>
          <a:lstStyle/>
          <a:p>
            <a:r>
              <a:rPr lang="de-DE" sz="4800" u="sng"/>
              <a:t> Zentralisierte Systeme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060711D-F3E5-D6EE-128E-9622BF1F6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2527" y="2281754"/>
            <a:ext cx="1105058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Nachteile: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Serverausfall &gt; gesamte Arbeit stoppt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Offline-Arbeiten nahezu unmöglich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Parallelität stark eingeschränkt, da alle Entwickler auf denselben Server zugreifen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Arbeitsweise: </a:t>
            </a:r>
            <a:r>
              <a:rPr lang="de-DE" altLang="de-DE" dirty="0" err="1">
                <a:latin typeface="Arial" panose="020B0604020202020204" pitchFamily="34" charset="0"/>
              </a:rPr>
              <a:t>Commits</a:t>
            </a:r>
            <a:r>
              <a:rPr lang="de-DE" altLang="de-DE" dirty="0">
                <a:latin typeface="Arial" panose="020B0604020202020204" pitchFamily="34" charset="0"/>
              </a:rPr>
              <a:t> erfolgen nacheinander auf den Server, Änderungen werden linear gespeichert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2E4119-5560-5B1D-2DC9-1DE1A8F1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8</a:t>
            </a:fld>
            <a:endParaRPr lang="de-DE" noProof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4484804-9281-67B2-A76F-C222549D874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546"/>
          <a:stretch>
            <a:fillRect/>
          </a:stretch>
        </p:blipFill>
        <p:spPr>
          <a:xfrm>
            <a:off x="7741328" y="203258"/>
            <a:ext cx="4516316" cy="358365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60B6E3DA-8CD1-43B6-FCCE-EAAD9A2892EE}"/>
              </a:ext>
            </a:extLst>
          </p:cNvPr>
          <p:cNvSpPr txBox="1"/>
          <p:nvPr/>
        </p:nvSpPr>
        <p:spPr>
          <a:xfrm>
            <a:off x="11047410" y="2918059"/>
            <a:ext cx="18731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Abbildung 2</a:t>
            </a:r>
          </a:p>
        </p:txBody>
      </p:sp>
    </p:spTree>
    <p:extLst>
      <p:ext uri="{BB962C8B-B14F-4D97-AF65-F5344CB8AC3E}">
        <p14:creationId xmlns:p14="http://schemas.microsoft.com/office/powerpoint/2010/main" val="3688460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A0824-706E-D576-199E-C38849394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BBB5F3-B34B-C20E-CA8E-C5C254A46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088061" cy="1478570"/>
          </a:xfrm>
        </p:spPr>
        <p:txBody>
          <a:bodyPr>
            <a:normAutofit/>
          </a:bodyPr>
          <a:lstStyle/>
          <a:p>
            <a:r>
              <a:rPr lang="de-DE" sz="4800" u="sng"/>
              <a:t> Verteilte Systeme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EA81BA8-B3E2-07E1-EE4D-190C2B49D3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2527" y="2097088"/>
            <a:ext cx="1105058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Definition: DVCS speichert das komplette Repository lokal bei jedem Entwickler.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Beispiele: </a:t>
            </a:r>
            <a:r>
              <a:rPr lang="de-DE" altLang="de-DE" dirty="0" err="1">
                <a:latin typeface="Arial" panose="020B0604020202020204" pitchFamily="34" charset="0"/>
              </a:rPr>
              <a:t>Git</a:t>
            </a:r>
            <a:r>
              <a:rPr lang="de-DE" altLang="de-DE" dirty="0">
                <a:latin typeface="Arial" panose="020B0604020202020204" pitchFamily="34" charset="0"/>
              </a:rPr>
              <a:t>, </a:t>
            </a:r>
            <a:r>
              <a:rPr lang="de-DE" altLang="de-DE" dirty="0" err="1">
                <a:latin typeface="Arial" panose="020B0604020202020204" pitchFamily="34" charset="0"/>
              </a:rPr>
              <a:t>Mercurial</a:t>
            </a: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Vorteile: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Offline-Arbeit möglich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Schnelle lokale </a:t>
            </a:r>
            <a:r>
              <a:rPr lang="de-DE" altLang="de-DE" dirty="0" err="1">
                <a:latin typeface="Arial" panose="020B0604020202020204" pitchFamily="34" charset="0"/>
              </a:rPr>
              <a:t>Commits</a:t>
            </a: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Flexible </a:t>
            </a:r>
            <a:r>
              <a:rPr lang="de-DE" altLang="de-DE" dirty="0" err="1">
                <a:latin typeface="Arial" panose="020B0604020202020204" pitchFamily="34" charset="0"/>
              </a:rPr>
              <a:t>Branching</a:t>
            </a:r>
            <a:r>
              <a:rPr lang="de-DE" altLang="de-DE" dirty="0">
                <a:latin typeface="Arial" panose="020B0604020202020204" pitchFamily="34" charset="0"/>
              </a:rPr>
              <a:t>-Strategien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Hohe Ausfallsicherheit (jede Kopie ist ein Backup)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EE3BA0-8578-EA4B-A407-E0F34BBC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9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052679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EF599-9E71-3AE3-96F6-34CD5B8C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B2C9BD-F1B1-6E2B-34EC-66B9E863A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088061" cy="1478570"/>
          </a:xfrm>
        </p:spPr>
        <p:txBody>
          <a:bodyPr>
            <a:normAutofit/>
          </a:bodyPr>
          <a:lstStyle/>
          <a:p>
            <a:r>
              <a:rPr lang="de-DE" sz="4800" u="sng" dirty="0"/>
              <a:t> Verteilte Systeme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807FAC-7432-E517-D818-720B272348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3790" y="2274838"/>
            <a:ext cx="10591701" cy="2308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solidFill>
                  <a:schemeClr val="tx1"/>
                </a:solidFill>
                <a:latin typeface="Arial" panose="020B0604020202020204" pitchFamily="34" charset="0"/>
              </a:rPr>
              <a:t>Nachteile: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solidFill>
                  <a:schemeClr val="tx1"/>
                </a:solidFill>
                <a:latin typeface="Arial" panose="020B0604020202020204" pitchFamily="34" charset="0"/>
              </a:rPr>
              <a:t>Einarbeitung für neue Entwickler notwendig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solidFill>
                  <a:schemeClr val="tx1"/>
                </a:solidFill>
                <a:latin typeface="Arial" panose="020B0604020202020204" pitchFamily="34" charset="0"/>
              </a:rPr>
              <a:t>Speicherbedarf bei sehr großen Projekten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de-DE" altLang="de-D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solidFill>
                  <a:schemeClr val="tx1"/>
                </a:solidFill>
                <a:latin typeface="Arial" panose="020B0604020202020204" pitchFamily="34" charset="0"/>
              </a:rPr>
              <a:t>Arbeitsweise: Jeder Entwickler kann unabhängig Änderungen </a:t>
            </a:r>
            <a:r>
              <a:rPr lang="de-DE" altLang="de-DE" dirty="0" err="1">
                <a:solidFill>
                  <a:schemeClr val="tx1"/>
                </a:solidFill>
                <a:latin typeface="Arial" panose="020B0604020202020204" pitchFamily="34" charset="0"/>
              </a:rPr>
              <a:t>commiten</a:t>
            </a:r>
            <a:r>
              <a:rPr lang="de-DE" altLang="de-DE" dirty="0">
                <a:solidFill>
                  <a:schemeClr val="tx1"/>
                </a:solidFill>
                <a:latin typeface="Arial" panose="020B0604020202020204" pitchFamily="34" charset="0"/>
              </a:rPr>
              <a:t>, testen, </a:t>
            </a:r>
            <a:r>
              <a:rPr lang="de-DE" altLang="de-DE" dirty="0" err="1">
                <a:solidFill>
                  <a:schemeClr val="tx1"/>
                </a:solidFill>
                <a:latin typeface="Arial" panose="020B0604020202020204" pitchFamily="34" charset="0"/>
              </a:rPr>
              <a:t>Branches</a:t>
            </a:r>
            <a:r>
              <a:rPr lang="de-DE" altLang="de-DE" dirty="0">
                <a:solidFill>
                  <a:schemeClr val="tx1"/>
                </a:solidFill>
                <a:latin typeface="Arial" panose="020B0604020202020204" pitchFamily="34" charset="0"/>
              </a:rPr>
              <a:t> anlegen und später in ein zentrales Repository pushen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34D4FF6-2B52-2340-74BA-E46DB8BB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10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379865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4F807-3A1C-2C18-5473-CCB810977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6B096A-6424-CABD-5F9E-486FE8FD0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088061" cy="1478570"/>
          </a:xfrm>
        </p:spPr>
        <p:txBody>
          <a:bodyPr>
            <a:normAutofit/>
          </a:bodyPr>
          <a:lstStyle/>
          <a:p>
            <a:r>
              <a:rPr lang="de-DE" sz="4800" u="sng" dirty="0"/>
              <a:t> 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B71396D-2E28-7460-3019-9FA350CE8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11</a:t>
            </a:fld>
            <a:endParaRPr lang="de-DE" noProof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CE596DC-677F-8C8E-58FB-54465FFF0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763" y="411351"/>
            <a:ext cx="7843530" cy="5882647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EF954B2-B425-2E6C-80DE-A9FB37A6F30E}"/>
              </a:ext>
            </a:extLst>
          </p:cNvPr>
          <p:cNvSpPr txBox="1"/>
          <p:nvPr/>
        </p:nvSpPr>
        <p:spPr>
          <a:xfrm>
            <a:off x="8788677" y="6283786"/>
            <a:ext cx="18731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Abbildung 3</a:t>
            </a:r>
          </a:p>
        </p:txBody>
      </p:sp>
    </p:spTree>
    <p:extLst>
      <p:ext uri="{BB962C8B-B14F-4D97-AF65-F5344CB8AC3E}">
        <p14:creationId xmlns:p14="http://schemas.microsoft.com/office/powerpoint/2010/main" val="3921767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CFB8B1-6449-8443-0A3B-6D2240ED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u="sng" dirty="0"/>
              <a:t>Vergleich Zentralisiert (CVCS) vs. Verteiltes System (DVCS)</a:t>
            </a:r>
            <a:br>
              <a:rPr lang="de-DE" u="sng" dirty="0"/>
            </a:br>
            <a:br>
              <a:rPr lang="de-DE" dirty="0"/>
            </a:b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E2BD7CB9-6C7A-5CA3-A6A6-D948EC95E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127234"/>
              </p:ext>
            </p:extLst>
          </p:nvPr>
        </p:nvGraphicFramePr>
        <p:xfrm>
          <a:off x="1141413" y="2097088"/>
          <a:ext cx="9606798" cy="360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2266">
                  <a:extLst>
                    <a:ext uri="{9D8B030D-6E8A-4147-A177-3AD203B41FA5}">
                      <a16:colId xmlns:a16="http://schemas.microsoft.com/office/drawing/2014/main" val="2547925071"/>
                    </a:ext>
                  </a:extLst>
                </a:gridCol>
                <a:gridCol w="3202266">
                  <a:extLst>
                    <a:ext uri="{9D8B030D-6E8A-4147-A177-3AD203B41FA5}">
                      <a16:colId xmlns:a16="http://schemas.microsoft.com/office/drawing/2014/main" val="3266871"/>
                    </a:ext>
                  </a:extLst>
                </a:gridCol>
                <a:gridCol w="3202266">
                  <a:extLst>
                    <a:ext uri="{9D8B030D-6E8A-4147-A177-3AD203B41FA5}">
                      <a16:colId xmlns:a16="http://schemas.microsoft.com/office/drawing/2014/main" val="1873931237"/>
                    </a:ext>
                  </a:extLst>
                </a:gridCol>
              </a:tblGrid>
              <a:tr h="601180">
                <a:tc>
                  <a:txBody>
                    <a:bodyPr/>
                    <a:lstStyle/>
                    <a:p>
                      <a:pPr algn="ctr"/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Merkmale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Zentralisiert (CVCS)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Verteiltes System (DVCS)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4224336"/>
                  </a:ext>
                </a:extLst>
              </a:tr>
              <a:tr h="6011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Speicherort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Lokal bei jedem Entwickler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177692"/>
                  </a:ext>
                </a:extLst>
              </a:tr>
              <a:tr h="6011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Offline-Funktionalität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Eingeschränkt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Voll möglich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9104117"/>
                  </a:ext>
                </a:extLst>
              </a:tr>
              <a:tr h="601180">
                <a:tc>
                  <a:txBody>
                    <a:bodyPr/>
                    <a:lstStyle/>
                    <a:p>
                      <a:pPr algn="ctr"/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Ausfallsicherheit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476955"/>
                  </a:ext>
                </a:extLst>
              </a:tr>
              <a:tr h="601180">
                <a:tc>
                  <a:txBody>
                    <a:bodyPr/>
                    <a:lstStyle/>
                    <a:p>
                      <a:pPr algn="ctr"/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Geschwindigkeit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Netzwerkabhängig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Lokal sehr schnell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871268"/>
                  </a:ext>
                </a:extLst>
              </a:tr>
              <a:tr h="601180">
                <a:tc>
                  <a:txBody>
                    <a:bodyPr/>
                    <a:lstStyle/>
                    <a:p>
                      <a:pPr algn="ctr"/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Parallelität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Begrenzt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Sehr flexible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146274"/>
                  </a:ext>
                </a:extLst>
              </a:tr>
            </a:tbl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40FD1BB-8B58-A97C-F032-DC6E93A9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12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106568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F4074-5074-06CC-4D7E-AE9B1F48C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76E7EA-133F-0B59-90EF-CEADDDA32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486" y="510580"/>
            <a:ext cx="11403514" cy="1478570"/>
          </a:xfrm>
        </p:spPr>
        <p:txBody>
          <a:bodyPr>
            <a:normAutofit/>
          </a:bodyPr>
          <a:lstStyle/>
          <a:p>
            <a:r>
              <a:rPr lang="de-DE" sz="4800" u="sng"/>
              <a:t> Technische Darstellung: </a:t>
            </a:r>
            <a:r>
              <a:rPr lang="de-DE" sz="4800" u="sng" err="1"/>
              <a:t>Git</a:t>
            </a:r>
            <a:r>
              <a:rPr lang="de-DE" sz="4800" u="sng"/>
              <a:t> Graph</a:t>
            </a:r>
          </a:p>
        </p:txBody>
      </p:sp>
      <p:pic>
        <p:nvPicPr>
          <p:cNvPr id="3" name="Inhaltsplatzhalter 2">
            <a:extLst>
              <a:ext uri="{FF2B5EF4-FFF2-40B4-BE49-F238E27FC236}">
                <a16:creationId xmlns:a16="http://schemas.microsoft.com/office/drawing/2014/main" id="{B6018D81-8067-7E1F-A014-FFCC55CBA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8486" y="1482571"/>
            <a:ext cx="10607045" cy="5488347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61955F-D19C-2207-C02D-A31494F24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13</a:t>
            </a:fld>
            <a:endParaRPr lang="de-DE" noProof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BA901B6-A6E0-8ABB-C754-3E9523AB3B18}"/>
              </a:ext>
            </a:extLst>
          </p:cNvPr>
          <p:cNvSpPr txBox="1"/>
          <p:nvPr/>
        </p:nvSpPr>
        <p:spPr>
          <a:xfrm>
            <a:off x="10110816" y="6596390"/>
            <a:ext cx="18731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Abbildung 4</a:t>
            </a:r>
          </a:p>
        </p:txBody>
      </p:sp>
    </p:spTree>
    <p:extLst>
      <p:ext uri="{BB962C8B-B14F-4D97-AF65-F5344CB8AC3E}">
        <p14:creationId xmlns:p14="http://schemas.microsoft.com/office/powerpoint/2010/main" val="2081657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6AF05-BC4E-1123-E352-73B038323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FFC80C-53A2-57F5-A615-C42045693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1628104" cy="1478570"/>
          </a:xfrm>
        </p:spPr>
        <p:txBody>
          <a:bodyPr>
            <a:normAutofit/>
          </a:bodyPr>
          <a:lstStyle/>
          <a:p>
            <a:r>
              <a:rPr lang="de-DE" sz="4800" u="sng" dirty="0"/>
              <a:t>Konsequenzen für Arbeitsprozesse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FBF8F7-49FE-C3CC-1DC3-EFA151F6A6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747898"/>
            <a:ext cx="1059170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>
                <a:latin typeface="Arial" panose="020B0604020202020204" pitchFamily="34" charset="0"/>
              </a:rPr>
              <a:t>Parallele Entwicklung möglich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de-DE" altLang="de-DE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>
                <a:latin typeface="Arial" panose="020B0604020202020204" pitchFamily="34" charset="0"/>
              </a:rPr>
              <a:t>Lokale </a:t>
            </a:r>
            <a:r>
              <a:rPr lang="de-DE" altLang="de-DE" err="1">
                <a:latin typeface="Arial" panose="020B0604020202020204" pitchFamily="34" charset="0"/>
              </a:rPr>
              <a:t>Commits</a:t>
            </a:r>
            <a:r>
              <a:rPr lang="de-DE" altLang="de-DE">
                <a:latin typeface="Arial" panose="020B0604020202020204" pitchFamily="34" charset="0"/>
              </a:rPr>
              <a:t> &amp; Tests beschleunigen Feedbackzyklen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de-DE" altLang="de-DE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>
                <a:latin typeface="Arial" panose="020B0604020202020204" pitchFamily="34" charset="0"/>
              </a:rPr>
              <a:t>Unterschiedliche </a:t>
            </a:r>
            <a:r>
              <a:rPr lang="de-DE" altLang="de-DE" err="1">
                <a:latin typeface="Arial" panose="020B0604020202020204" pitchFamily="34" charset="0"/>
              </a:rPr>
              <a:t>Merge</a:t>
            </a:r>
            <a:r>
              <a:rPr lang="de-DE" altLang="de-DE">
                <a:latin typeface="Arial" panose="020B0604020202020204" pitchFamily="34" charset="0"/>
              </a:rPr>
              <a:t>-Methoden (Fast-Forward, </a:t>
            </a:r>
            <a:r>
              <a:rPr lang="de-DE" altLang="de-DE" err="1">
                <a:latin typeface="Arial" panose="020B0604020202020204" pitchFamily="34" charset="0"/>
              </a:rPr>
              <a:t>Rebase</a:t>
            </a:r>
            <a:r>
              <a:rPr lang="de-DE" altLang="de-DE">
                <a:latin typeface="Arial" panose="020B0604020202020204" pitchFamily="34" charset="0"/>
              </a:rPr>
              <a:t>, </a:t>
            </a:r>
            <a:r>
              <a:rPr lang="de-DE" altLang="de-DE" err="1">
                <a:latin typeface="Arial" panose="020B0604020202020204" pitchFamily="34" charset="0"/>
              </a:rPr>
              <a:t>Merge</a:t>
            </a:r>
            <a:r>
              <a:rPr lang="de-DE" altLang="de-DE">
                <a:latin typeface="Arial" panose="020B0604020202020204" pitchFamily="34" charset="0"/>
              </a:rPr>
              <a:t> Commit)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de-DE" altLang="de-DE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>
                <a:latin typeface="Arial" panose="020B0604020202020204" pitchFamily="34" charset="0"/>
              </a:rPr>
              <a:t>Weniger Absprachen notwendig als bei CVCS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E0FA38E-79E4-EEA7-3494-76DC8DBC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14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009680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33D04-1D5E-AF9A-8586-5F2E151D9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157EC0-C3B3-648E-9A7C-E662B6F3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1628104" cy="1478570"/>
          </a:xfrm>
        </p:spPr>
        <p:txBody>
          <a:bodyPr>
            <a:normAutofit/>
          </a:bodyPr>
          <a:lstStyle/>
          <a:p>
            <a:r>
              <a:rPr lang="de-DE" sz="4800" u="sng" dirty="0"/>
              <a:t>Zusammenfassung Leitfrage 1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2C27850-7409-D126-92BD-8EDAEC05CB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5792" y="2634300"/>
            <a:ext cx="10161628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DVCS: flexibel, offline, schnelle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hohe Ausfallsicherheit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de-DE" altLang="de-DE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CVCS: einfache Struktur, zentrale Kontrolle, Offline-Arbeit eingeschränkt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DVCS ist vorteilhaft für Teams, parallele Arbeit und komplexe Projekte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36D0F6-E790-FE5A-C2A1-07F8EA3BB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15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427122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D96E3D-7549-E3BC-9275-DC3614942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sz="4800" u="sng"/>
              <a:t>Teil2: Einleitung Leitfrage 2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8AC2E4-F4FA-0F6A-BAA2-23695F83D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>
                <a:ea typeface="+mn-lt"/>
                <a:cs typeface="+mn-lt"/>
              </a:rPr>
              <a:t>Wie beeinflussen unterschiedliche </a:t>
            </a:r>
            <a:r>
              <a:rPr lang="de-DE" err="1">
                <a:ea typeface="+mn-lt"/>
                <a:cs typeface="+mn-lt"/>
              </a:rPr>
              <a:t>Branching</a:t>
            </a:r>
            <a:r>
              <a:rPr lang="de-DE">
                <a:ea typeface="+mn-lt"/>
                <a:cs typeface="+mn-lt"/>
              </a:rPr>
              <a:t>-Strategien die Softwarequalität, insbesondere im Hinblick auf Fehlerhäufigkeit, Code-Stabilität und </a:t>
            </a:r>
            <a:r>
              <a:rPr lang="de-DE" err="1">
                <a:ea typeface="+mn-lt"/>
                <a:cs typeface="+mn-lt"/>
              </a:rPr>
              <a:t>Merge</a:t>
            </a:r>
            <a:r>
              <a:rPr lang="de-DE">
                <a:ea typeface="+mn-lt"/>
                <a:cs typeface="+mn-lt"/>
              </a:rPr>
              <a:t>-Konflikte?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9C332B-3795-E12F-3777-61B428C8C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16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832077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B5B145-8DDC-EB73-7432-A9B03ADA3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sz="4800" u="sng" dirty="0" err="1"/>
              <a:t>Branching</a:t>
            </a:r>
            <a:r>
              <a:rPr lang="de-DE" sz="4800" u="sng" dirty="0"/>
              <a:t>-Grundlagen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026BEC-2F85-C978-13E2-084F0B617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51277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de-DE" dirty="0" err="1"/>
              <a:t>Branching</a:t>
            </a:r>
            <a:r>
              <a:rPr lang="de-DE" dirty="0"/>
              <a:t> Strategien? Was ist das überhaupt?</a:t>
            </a:r>
          </a:p>
          <a:p>
            <a:pPr marL="457200" lvl="1" indent="0">
              <a:buNone/>
            </a:pPr>
            <a:r>
              <a:rPr lang="de-DE" dirty="0"/>
              <a:t>Branch=</a:t>
            </a:r>
            <a:r>
              <a:rPr lang="de-DE" dirty="0">
                <a:ea typeface="+mn-lt"/>
                <a:cs typeface="+mn-lt"/>
              </a:rPr>
              <a:t>eigenständiger Entwicklungszweig </a:t>
            </a:r>
            <a:r>
              <a:rPr lang="de-DE" dirty="0"/>
              <a:t>VCS ohne Einfluss am </a:t>
            </a:r>
            <a:r>
              <a:rPr lang="de-DE" dirty="0">
                <a:ea typeface="+mn-lt"/>
                <a:cs typeface="+mn-lt"/>
              </a:rPr>
              <a:t>Hauptentwicklungsstand</a:t>
            </a:r>
          </a:p>
          <a:p>
            <a:pPr marL="457200" lvl="1" indent="0">
              <a:buNone/>
            </a:pPr>
            <a:r>
              <a:rPr lang="de-DE" dirty="0" err="1"/>
              <a:t>Branching</a:t>
            </a:r>
            <a:r>
              <a:rPr lang="de-DE" dirty="0"/>
              <a:t> Strategien definieren damit die Regeln, wie man parallel an einem Branch arbeiten kann</a:t>
            </a:r>
          </a:p>
          <a:p>
            <a:r>
              <a:rPr lang="de-DE" dirty="0"/>
              <a:t>Fehlerhäufigkeit, Code-Stabilität und </a:t>
            </a:r>
            <a:r>
              <a:rPr lang="de-DE" dirty="0" err="1"/>
              <a:t>Merge</a:t>
            </a:r>
            <a:r>
              <a:rPr lang="de-DE" dirty="0"/>
              <a:t>-Konflikte? Ich versteh nur Bahnhof!</a:t>
            </a:r>
          </a:p>
          <a:p>
            <a:pPr marL="0" indent="0">
              <a:buNone/>
            </a:pPr>
            <a:r>
              <a:rPr lang="de-DE" dirty="0"/>
              <a:t>   -&gt;Fehlerhäufigkeit: </a:t>
            </a:r>
            <a:r>
              <a:rPr lang="de-DE" dirty="0">
                <a:ea typeface="+mn-lt"/>
                <a:cs typeface="+mn-lt"/>
              </a:rPr>
              <a:t>wie oft treten Softwarefehler in einem bestimmten Zeitraum auf</a:t>
            </a:r>
          </a:p>
          <a:p>
            <a:pPr marL="0" indent="0">
              <a:buNone/>
            </a:pPr>
            <a:r>
              <a:rPr lang="de-DE" dirty="0"/>
              <a:t>   -&gt;Code-Stabilität: </a:t>
            </a:r>
            <a:r>
              <a:rPr lang="de-DE" dirty="0">
                <a:ea typeface="+mn-lt"/>
                <a:cs typeface="+mn-lt"/>
              </a:rPr>
              <a:t>Wie verlässlich und vorhersehbar verhält sich Code bei Änderungen</a:t>
            </a:r>
          </a:p>
          <a:p>
            <a:pPr marL="0" indent="0">
              <a:buNone/>
            </a:pPr>
            <a:r>
              <a:rPr lang="de-DE" dirty="0"/>
              <a:t>   -&gt;</a:t>
            </a:r>
            <a:r>
              <a:rPr lang="de-DE" dirty="0" err="1"/>
              <a:t>Merge</a:t>
            </a:r>
            <a:r>
              <a:rPr lang="de-DE" dirty="0"/>
              <a:t>-Konflikte: </a:t>
            </a:r>
            <a:r>
              <a:rPr lang="de-DE" dirty="0">
                <a:ea typeface="+mn-lt"/>
                <a:cs typeface="+mn-lt"/>
              </a:rPr>
              <a:t>Änderungen aus unterschiedlichen </a:t>
            </a:r>
            <a:r>
              <a:rPr lang="de-DE" dirty="0" err="1">
                <a:ea typeface="+mn-lt"/>
                <a:cs typeface="+mn-lt"/>
              </a:rPr>
              <a:t>Branches</a:t>
            </a:r>
            <a:r>
              <a:rPr lang="de-DE" dirty="0">
                <a:ea typeface="+mn-lt"/>
                <a:cs typeface="+mn-lt"/>
              </a:rPr>
              <a:t> können nicht automatisch     	zusammengeführt werden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4FA579-7A0E-D79B-7806-F9FB814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17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220442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60BE0-F214-0FB7-898E-6118503EF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1AE583-72E4-8896-6EBB-481E1AD7A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sz="4800">
              <a:latin typeface="Arial"/>
              <a:cs typeface="Arial"/>
            </a:endParaRPr>
          </a:p>
        </p:txBody>
      </p:sp>
      <p:pic>
        <p:nvPicPr>
          <p:cNvPr id="4" name="Inhaltsplatzhalter 3" descr="Ein Bild, das Text, Diagramm, Reihe, Screenshot enthält.">
            <a:extLst>
              <a:ext uri="{FF2B5EF4-FFF2-40B4-BE49-F238E27FC236}">
                <a16:creationId xmlns:a16="http://schemas.microsoft.com/office/drawing/2014/main" id="{82344C8E-0735-1DDD-F15E-FAA990F08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30" y="4677"/>
            <a:ext cx="12189481" cy="6857440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FAF4652-5766-2723-0E6E-B97DFD55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>
                <a:solidFill>
                  <a:schemeClr val="bg1"/>
                </a:solidFill>
              </a:rPr>
              <a:t>18</a:t>
            </a:fld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6AE141D-4C4C-BA87-2741-3DB16B1EB710}"/>
              </a:ext>
            </a:extLst>
          </p:cNvPr>
          <p:cNvSpPr txBox="1"/>
          <p:nvPr/>
        </p:nvSpPr>
        <p:spPr>
          <a:xfrm>
            <a:off x="9396248" y="6430621"/>
            <a:ext cx="2159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</a:rPr>
              <a:t>Abbildung 5:</a:t>
            </a:r>
          </a:p>
        </p:txBody>
      </p:sp>
    </p:spTree>
    <p:extLst>
      <p:ext uri="{BB962C8B-B14F-4D97-AF65-F5344CB8AC3E}">
        <p14:creationId xmlns:p14="http://schemas.microsoft.com/office/powerpoint/2010/main" val="2320189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C7274-65FA-AC36-F2C3-F950925B6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0C28DC83-88DD-08E9-847C-0C8453C8DD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9" y="0"/>
            <a:ext cx="12185831" cy="6840496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A465199E-0712-E2A1-671D-99B16E49E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34FF77E-37CB-A6A5-6D0D-7A4D4B99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>
                <a:solidFill>
                  <a:schemeClr val="bg1"/>
                </a:solidFill>
              </a:rPr>
              <a:t>19</a:t>
            </a:fld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2251B94-6201-B54B-70FE-5EBACCAFD914}"/>
              </a:ext>
            </a:extLst>
          </p:cNvPr>
          <p:cNvSpPr txBox="1"/>
          <p:nvPr/>
        </p:nvSpPr>
        <p:spPr>
          <a:xfrm>
            <a:off x="9396248" y="6430621"/>
            <a:ext cx="2159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</a:rPr>
              <a:t>Abbildung 6:</a:t>
            </a:r>
          </a:p>
        </p:txBody>
      </p:sp>
    </p:spTree>
    <p:extLst>
      <p:ext uri="{BB962C8B-B14F-4D97-AF65-F5344CB8AC3E}">
        <p14:creationId xmlns:p14="http://schemas.microsoft.com/office/powerpoint/2010/main" val="2446253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E6D48-173F-87DA-3EAD-35D8AB10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B086F-15BC-5BA2-11B9-18312945A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5944" y="3068492"/>
            <a:ext cx="6790480" cy="1333887"/>
          </a:xfrm>
        </p:spPr>
        <p:txBody>
          <a:bodyPr>
            <a:normAutofit/>
          </a:bodyPr>
          <a:lstStyle/>
          <a:p>
            <a:r>
              <a:rPr lang="de-DE" sz="4800" err="1">
                <a:solidFill>
                  <a:schemeClr val="bg1"/>
                </a:solidFill>
                <a:latin typeface="Arial"/>
                <a:cs typeface="Arial"/>
              </a:rPr>
              <a:t>Forking</a:t>
            </a:r>
            <a:r>
              <a:rPr lang="de-DE" sz="4800">
                <a:solidFill>
                  <a:schemeClr val="bg1"/>
                </a:solidFill>
                <a:latin typeface="Arial"/>
                <a:cs typeface="Arial"/>
              </a:rPr>
              <a:t> Workflow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8103D62-2CE8-478A-6027-2D4CD338B011}"/>
              </a:ext>
            </a:extLst>
          </p:cNvPr>
          <p:cNvSpPr txBox="1"/>
          <p:nvPr/>
        </p:nvSpPr>
        <p:spPr>
          <a:xfrm>
            <a:off x="5159349" y="4397435"/>
            <a:ext cx="61839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>
                <a:solidFill>
                  <a:schemeClr val="bg1"/>
                </a:solidFill>
              </a:rPr>
              <a:t>(Open Source Konzept)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F7DDDBF-509D-00A4-A21A-34C645EA1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29024" y="5883274"/>
            <a:ext cx="771089" cy="365125"/>
          </a:xfrm>
        </p:spPr>
        <p:txBody>
          <a:bodyPr/>
          <a:lstStyle/>
          <a:p>
            <a:pPr rtl="0"/>
            <a:fld id="{6D22F896-40B5-4ADD-8801-0D06FADFA095}" type="slidenum">
              <a:rPr lang="de-DE" noProof="0" smtClean="0">
                <a:solidFill>
                  <a:schemeClr val="bg1"/>
                </a:solidFill>
              </a:rPr>
              <a:t>20</a:t>
            </a:fld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488F54E-8B29-CE51-E454-FE5720FC6DA3}"/>
              </a:ext>
            </a:extLst>
          </p:cNvPr>
          <p:cNvSpPr txBox="1"/>
          <p:nvPr/>
        </p:nvSpPr>
        <p:spPr>
          <a:xfrm>
            <a:off x="9396248" y="6430621"/>
            <a:ext cx="2159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</a:rPr>
              <a:t>Abbildung 7:</a:t>
            </a:r>
          </a:p>
        </p:txBody>
      </p:sp>
    </p:spTree>
    <p:extLst>
      <p:ext uri="{BB962C8B-B14F-4D97-AF65-F5344CB8AC3E}">
        <p14:creationId xmlns:p14="http://schemas.microsoft.com/office/powerpoint/2010/main" val="942628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DAB50-A438-DD07-4997-9446FE497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BB4BEC-80E1-50F3-D13D-85B72B506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4300" u="sng" dirty="0">
                <a:latin typeface="Arial"/>
                <a:ea typeface="+mj-lt"/>
                <a:cs typeface="Arial"/>
              </a:rPr>
              <a:t>Auswirkungen auf Softwarequalität</a:t>
            </a:r>
            <a:br>
              <a:rPr lang="de-DE" sz="4300" dirty="0">
                <a:latin typeface="Arial"/>
                <a:ea typeface="+mj-lt"/>
                <a:cs typeface="Arial"/>
              </a:rPr>
            </a:br>
            <a:r>
              <a:rPr lang="de-DE" sz="2400" dirty="0"/>
              <a:t>(Fehlerhäufigkeit, Code-Stabilität und </a:t>
            </a:r>
            <a:r>
              <a:rPr lang="de-DE" sz="2400" dirty="0" err="1"/>
              <a:t>Merge</a:t>
            </a:r>
            <a:r>
              <a:rPr lang="de-DE" sz="2400" dirty="0"/>
              <a:t>-Konflikte)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430660-1C16-A744-EBCA-AE097FF0B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900" dirty="0">
                <a:latin typeface="Arial"/>
                <a:cs typeface="Arial"/>
              </a:rPr>
              <a:t>Trunk-</a:t>
            </a:r>
            <a:r>
              <a:rPr lang="de-DE" sz="1900" dirty="0" err="1">
                <a:latin typeface="Arial"/>
                <a:cs typeface="Arial"/>
              </a:rPr>
              <a:t>Based</a:t>
            </a:r>
            <a:r>
              <a:rPr lang="de-DE" sz="1900" dirty="0">
                <a:latin typeface="Arial"/>
                <a:cs typeface="Arial"/>
              </a:rPr>
              <a:t> Development</a:t>
            </a:r>
            <a:endParaRPr lang="de-DE" dirty="0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3C45226F-0E9C-4B58-B409-1217BBF5E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657029"/>
              </p:ext>
            </p:extLst>
          </p:nvPr>
        </p:nvGraphicFramePr>
        <p:xfrm>
          <a:off x="1193883" y="2514600"/>
          <a:ext cx="9542434" cy="4145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019">
                  <a:extLst>
                    <a:ext uri="{9D8B030D-6E8A-4147-A177-3AD203B41FA5}">
                      <a16:colId xmlns:a16="http://schemas.microsoft.com/office/drawing/2014/main" val="347385257"/>
                    </a:ext>
                  </a:extLst>
                </a:gridCol>
                <a:gridCol w="3057691">
                  <a:extLst>
                    <a:ext uri="{9D8B030D-6E8A-4147-A177-3AD203B41FA5}">
                      <a16:colId xmlns:a16="http://schemas.microsoft.com/office/drawing/2014/main" val="29006215"/>
                    </a:ext>
                  </a:extLst>
                </a:gridCol>
                <a:gridCol w="3217724">
                  <a:extLst>
                    <a:ext uri="{9D8B030D-6E8A-4147-A177-3AD203B41FA5}">
                      <a16:colId xmlns:a16="http://schemas.microsoft.com/office/drawing/2014/main" val="659183182"/>
                    </a:ext>
                  </a:extLst>
                </a:gridCol>
              </a:tblGrid>
              <a:tr h="8335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dirty="0">
                          <a:latin typeface="Arial"/>
                          <a:cs typeface="Arial"/>
                        </a:rPr>
                        <a:t>Trunk-</a:t>
                      </a:r>
                      <a:r>
                        <a:rPr lang="de-DE" sz="1800" dirty="0" err="1">
                          <a:latin typeface="Arial"/>
                          <a:cs typeface="Arial"/>
                        </a:rPr>
                        <a:t>Based</a:t>
                      </a:r>
                      <a:r>
                        <a:rPr lang="de-DE" sz="1800" dirty="0">
                          <a:latin typeface="Arial"/>
                          <a:cs typeface="Arial"/>
                        </a:rPr>
                        <a:t> Development</a:t>
                      </a:r>
                      <a:endParaRPr lang="de-DE" dirty="0"/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kern="1200" dirty="0">
                          <a:solidFill>
                            <a:schemeClr val="lt1"/>
                          </a:solidFill>
                          <a:latin typeface="Arial"/>
                          <a:ea typeface="+mn-ea"/>
                          <a:cs typeface="Arial"/>
                        </a:rPr>
                        <a:t>Feature </a:t>
                      </a:r>
                      <a:r>
                        <a:rPr lang="de-DE" sz="1800" b="1" kern="1200" dirty="0" err="1">
                          <a:solidFill>
                            <a:schemeClr val="lt1"/>
                          </a:solidFill>
                          <a:latin typeface="Arial"/>
                          <a:ea typeface="+mn-ea"/>
                          <a:cs typeface="Arial"/>
                        </a:rPr>
                        <a:t>Branching</a:t>
                      </a:r>
                      <a:r>
                        <a:rPr lang="de-DE" sz="1800" b="1" kern="1200" dirty="0">
                          <a:solidFill>
                            <a:schemeClr val="lt1"/>
                          </a:solidFill>
                          <a:latin typeface="Arial"/>
                          <a:ea typeface="+mn-ea"/>
                          <a:cs typeface="Arial"/>
                        </a:rPr>
                        <a:t> Development</a:t>
                      </a:r>
                    </a:p>
                    <a:p>
                      <a:endParaRPr lang="de-DE" sz="1800" b="1" kern="1200" dirty="0">
                        <a:solidFill>
                          <a:schemeClr val="lt1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kern="1200" dirty="0" err="1">
                          <a:solidFill>
                            <a:schemeClr val="lt1"/>
                          </a:solidFill>
                          <a:latin typeface="Arial"/>
                          <a:ea typeface="+mn-ea"/>
                          <a:cs typeface="Arial"/>
                        </a:rPr>
                        <a:t>Forking</a:t>
                      </a:r>
                      <a:r>
                        <a:rPr lang="de-DE" sz="1800" dirty="0"/>
                        <a:t> </a:t>
                      </a:r>
                      <a:r>
                        <a:rPr lang="de-DE" sz="1800" b="1" kern="1200" dirty="0">
                          <a:solidFill>
                            <a:schemeClr val="lt1"/>
                          </a:solidFill>
                          <a:latin typeface="Arial"/>
                          <a:ea typeface="+mn-ea"/>
                          <a:cs typeface="Arial"/>
                        </a:rPr>
                        <a:t>Workflow Development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219510"/>
                  </a:ext>
                </a:extLst>
              </a:tr>
              <a:tr h="753008">
                <a:tc>
                  <a:txBody>
                    <a:bodyPr/>
                    <a:lstStyle/>
                    <a:p>
                      <a:r>
                        <a:rPr lang="de-DE" sz="2000" dirty="0"/>
                        <a:t>Fehlerhäufigkeit: Hoch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400" dirty="0"/>
                        <a:t>Fehler früh sichtbar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400" dirty="0"/>
                        <a:t>Kleine Änderung werden schneller getestet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Fehlerhäufigkeit: Mittel</a:t>
                      </a:r>
                      <a:endParaRPr lang="en-US" sz="20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400" dirty="0">
                          <a:ea typeface="+mn-lt"/>
                          <a:cs typeface="+mn-lt"/>
                        </a:rPr>
                        <a:t>Fehler oft erst beim </a:t>
                      </a:r>
                      <a:r>
                        <a:rPr lang="de-DE" sz="1400" dirty="0" err="1">
                          <a:ea typeface="+mn-lt"/>
                          <a:cs typeface="+mn-lt"/>
                        </a:rPr>
                        <a:t>Merge</a:t>
                      </a:r>
                      <a:r>
                        <a:rPr lang="de-DE" sz="1400" dirty="0">
                          <a:ea typeface="+mn-lt"/>
                          <a:cs typeface="+mn-lt"/>
                        </a:rPr>
                        <a:t> oder nach längerer Entwicklungszeit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Fehlerhäufigkeit: Hoch</a:t>
                      </a:r>
                      <a:endParaRPr lang="en-US" sz="20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400" dirty="0"/>
                        <a:t>Integration erfolgt verzögert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161234"/>
                  </a:ext>
                </a:extLst>
              </a:tr>
              <a:tr h="1000315">
                <a:tc>
                  <a:txBody>
                    <a:bodyPr/>
                    <a:lstStyle/>
                    <a:p>
                      <a:r>
                        <a:rPr lang="de-DE" dirty="0"/>
                        <a:t>Code-stabilität: Hoch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400" dirty="0"/>
                        <a:t>Kurze Branch-Lebensdauer und </a:t>
                      </a:r>
                      <a:r>
                        <a:rPr lang="de-DE" sz="1400" dirty="0" err="1"/>
                        <a:t>Automated</a:t>
                      </a:r>
                      <a:r>
                        <a:rPr lang="de-DE" sz="1400" dirty="0"/>
                        <a:t> CI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Code-stabilität: Mittel</a:t>
                      </a:r>
                      <a:endParaRPr lang="en-US" sz="20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400" dirty="0">
                          <a:ea typeface="+mn-lt"/>
                          <a:cs typeface="+mn-lt"/>
                        </a:rPr>
                        <a:t>abhängig von Branch-Dauer und Testtiefe vor dem </a:t>
                      </a:r>
                      <a:r>
                        <a:rPr lang="de-DE" sz="1400" dirty="0" err="1">
                          <a:ea typeface="+mn-lt"/>
                          <a:cs typeface="+mn-lt"/>
                        </a:rPr>
                        <a:t>Merge</a:t>
                      </a:r>
                      <a:r>
                        <a:rPr lang="de-DE" sz="1400" dirty="0">
                          <a:ea typeface="+mn-lt"/>
                          <a:cs typeface="+mn-lt"/>
                        </a:rPr>
                        <a:t> 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Code-stabilität: Niedrig</a:t>
                      </a:r>
                      <a:endParaRPr lang="en-US" sz="20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400" dirty="0">
                          <a:ea typeface="+mn-lt"/>
                          <a:cs typeface="+mn-lt"/>
                        </a:rPr>
                        <a:t>häufig veraltete Codebasen, umfangreiche Divergenzen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557640"/>
                  </a:ext>
                </a:extLst>
              </a:tr>
              <a:tr h="1194820">
                <a:tc>
                  <a:txBody>
                    <a:bodyPr/>
                    <a:lstStyle/>
                    <a:p>
                      <a:r>
                        <a:rPr lang="de-DE" sz="2000" dirty="0" err="1"/>
                        <a:t>Merge</a:t>
                      </a:r>
                      <a:r>
                        <a:rPr lang="de-DE" sz="2000" dirty="0"/>
                        <a:t>-konflikte: Niedrig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400" dirty="0" err="1"/>
                        <a:t>Branches</a:t>
                      </a:r>
                      <a:r>
                        <a:rPr lang="de-DE" sz="1400" dirty="0"/>
                        <a:t>, häufiges </a:t>
                      </a:r>
                      <a:r>
                        <a:rPr lang="de-DE" sz="1400" dirty="0" err="1"/>
                        <a:t>Rebased</a:t>
                      </a:r>
                      <a:r>
                        <a:rPr lang="de-DE" sz="1400" dirty="0"/>
                        <a:t> und sofortiges Auflösen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 err="1"/>
                        <a:t>Merge</a:t>
                      </a:r>
                      <a:r>
                        <a:rPr lang="de-DE" sz="2000" dirty="0"/>
                        <a:t>-konflikte: Mittel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400" dirty="0">
                          <a:ea typeface="+mn-lt"/>
                          <a:cs typeface="+mn-lt"/>
                        </a:rPr>
                        <a:t>abhängig von Parallelentwicklung, Branch-Lebensdauer und Release Rhythmus 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 err="1"/>
                        <a:t>Merge</a:t>
                      </a:r>
                      <a:r>
                        <a:rPr lang="de-DE" sz="2000" dirty="0"/>
                        <a:t>-konflikte: Hoch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sz="1400" dirty="0">
                          <a:ea typeface="+mn-lt"/>
                          <a:cs typeface="+mn-lt"/>
                        </a:rPr>
                        <a:t>seltene </a:t>
                      </a:r>
                      <a:r>
                        <a:rPr lang="de-DE" sz="1400" dirty="0" err="1">
                          <a:ea typeface="+mn-lt"/>
                          <a:cs typeface="+mn-lt"/>
                        </a:rPr>
                        <a:t>Merges</a:t>
                      </a:r>
                      <a:r>
                        <a:rPr lang="de-DE" sz="1400" dirty="0">
                          <a:ea typeface="+mn-lt"/>
                          <a:cs typeface="+mn-lt"/>
                        </a:rPr>
                        <a:t>, größere Code-Divergenz zwischen Teams oder </a:t>
                      </a:r>
                      <a:r>
                        <a:rPr lang="de-DE" sz="1400" dirty="0" err="1">
                          <a:ea typeface="+mn-lt"/>
                          <a:cs typeface="+mn-lt"/>
                        </a:rPr>
                        <a:t>Repositories</a:t>
                      </a:r>
                      <a:r>
                        <a:rPr lang="de-DE" sz="1400" dirty="0">
                          <a:ea typeface="+mn-lt"/>
                          <a:cs typeface="+mn-lt"/>
                        </a:rPr>
                        <a:t> 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631154"/>
                  </a:ext>
                </a:extLst>
              </a:tr>
            </a:tbl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B9FF47-A9AE-30D4-4C5E-3AACDED1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>
                <a:solidFill>
                  <a:schemeClr val="tx1"/>
                </a:solidFill>
              </a:rPr>
              <a:t>21</a:t>
            </a:fld>
            <a:endParaRPr lang="de-DE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323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89FB56-D665-3C37-23B7-1E15A08FF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Zusammenfassung Leitfrage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9AAFF6-0E74-0C44-5568-51EBD1035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>
                <a:ea typeface="+mn-lt"/>
                <a:cs typeface="+mn-lt"/>
              </a:rPr>
              <a:t>Trunk-</a:t>
            </a:r>
            <a:r>
              <a:rPr lang="de-DE" dirty="0" err="1">
                <a:ea typeface="+mn-lt"/>
                <a:cs typeface="+mn-lt"/>
              </a:rPr>
              <a:t>Based</a:t>
            </a:r>
            <a:r>
              <a:rPr lang="de-DE" dirty="0">
                <a:ea typeface="+mn-lt"/>
                <a:cs typeface="+mn-lt"/>
              </a:rPr>
              <a:t> Development am geeignetsten für kleine bis mittelgroße Teams, die eng zusammenarbeiten.</a:t>
            </a:r>
          </a:p>
          <a:p>
            <a:r>
              <a:rPr lang="de-DE" dirty="0"/>
              <a:t>Feature </a:t>
            </a:r>
            <a:r>
              <a:rPr lang="de-DE" dirty="0" err="1"/>
              <a:t>Branching</a:t>
            </a:r>
            <a:r>
              <a:rPr lang="de-DE" dirty="0"/>
              <a:t> Development am geeignetsten mittelgroße Teams, die eng zusammenarbeiten.</a:t>
            </a:r>
          </a:p>
          <a:p>
            <a:r>
              <a:rPr lang="de-DE" dirty="0" err="1">
                <a:ea typeface="+mn-lt"/>
                <a:cs typeface="+mn-lt"/>
              </a:rPr>
              <a:t>Forking</a:t>
            </a:r>
            <a:r>
              <a:rPr lang="de-DE" dirty="0">
                <a:ea typeface="+mn-lt"/>
                <a:cs typeface="+mn-lt"/>
              </a:rPr>
              <a:t> Workflow am geeignetsten für Open-Source-Projekte oder sehr große verteilte Teams, bei denen viele externe Mitwirkende ohne Schreibrechte am </a:t>
            </a:r>
            <a:r>
              <a:rPr lang="de-DE" dirty="0" err="1">
                <a:ea typeface="+mn-lt"/>
                <a:cs typeface="+mn-lt"/>
              </a:rPr>
              <a:t>Hauptrepository</a:t>
            </a:r>
            <a:r>
              <a:rPr lang="de-DE" dirty="0">
                <a:ea typeface="+mn-lt"/>
                <a:cs typeface="+mn-lt"/>
              </a:rPr>
              <a:t> arbeiten.</a:t>
            </a:r>
          </a:p>
          <a:p>
            <a:pPr marL="0" indent="0">
              <a:buNone/>
            </a:pPr>
            <a:endParaRPr lang="de-DE" dirty="0">
              <a:ea typeface="+mn-lt"/>
              <a:cs typeface="+mn-lt"/>
            </a:endParaRPr>
          </a:p>
          <a:p>
            <a:pPr marL="800100" lvl="1" indent="-342900"/>
            <a:endParaRPr lang="de-DE" dirty="0">
              <a:ea typeface="+mn-lt"/>
              <a:cs typeface="+mn-lt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C846F4-1D3D-9A65-9F5E-A0BBC484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22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096881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52678-9F18-DF3A-8EAB-4D082FF20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5E8E1D-8356-2F40-F7F2-055237348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674" y="678844"/>
            <a:ext cx="11784474" cy="1478570"/>
          </a:xfrm>
        </p:spPr>
        <p:txBody>
          <a:bodyPr>
            <a:normAutofit fontScale="90000"/>
          </a:bodyPr>
          <a:lstStyle/>
          <a:p>
            <a:r>
              <a:rPr lang="de-DE" sz="5300" u="sng" dirty="0"/>
              <a:t>Zukunftsaussichten von Versionskontrollsystemen</a:t>
            </a:r>
            <a:br>
              <a:rPr lang="de-DE" b="1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D7DE90-6D0E-1F60-244E-B6B2F33B5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>
                <a:latin typeface="Arial" panose="020B0604020202020204" pitchFamily="34" charset="0"/>
              </a:rPr>
              <a:t>Softwareentwicklung wird immer schneller und verteilter</a:t>
            </a:r>
          </a:p>
          <a:p>
            <a:pPr marL="0" indent="0">
              <a:buNone/>
            </a:pPr>
            <a:endParaRPr lang="de-DE" dirty="0">
              <a:latin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</a:rPr>
              <a:t>Versionskontrolle bleibt das zentrale Werkzeug für Zusammenarbeit</a:t>
            </a:r>
          </a:p>
          <a:p>
            <a:pPr marL="0" indent="0">
              <a:buNone/>
            </a:pPr>
            <a:endParaRPr lang="de-DE" dirty="0">
              <a:latin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</a:rPr>
              <a:t>Verteilte Systeme wie </a:t>
            </a:r>
            <a:r>
              <a:rPr lang="de-DE" dirty="0" err="1">
                <a:latin typeface="Arial" panose="020B0604020202020204" pitchFamily="34" charset="0"/>
              </a:rPr>
              <a:t>Git</a:t>
            </a:r>
            <a:r>
              <a:rPr lang="de-DE" dirty="0">
                <a:latin typeface="Arial" panose="020B0604020202020204" pitchFamily="34" charset="0"/>
              </a:rPr>
              <a:t> sind langfristig der Standard</a:t>
            </a:r>
            <a:br>
              <a:rPr lang="de-DE" dirty="0">
                <a:latin typeface="Arial" panose="020B0604020202020204" pitchFamily="34" charset="0"/>
              </a:rPr>
            </a:br>
            <a:endParaRPr lang="de-DE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de-DE" dirty="0">
              <a:ea typeface="+mn-lt"/>
              <a:cs typeface="+mn-lt"/>
            </a:endParaRPr>
          </a:p>
          <a:p>
            <a:pPr marL="800100" lvl="1" indent="-342900"/>
            <a:endParaRPr lang="de-DE" dirty="0">
              <a:ea typeface="+mn-lt"/>
              <a:cs typeface="+mn-lt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DF46CE-4958-81E0-0199-8CAC64DB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23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078618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A0DA7-C2B6-32BC-F1C8-EA94E28EF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D6A140-0693-2799-1401-85231FE95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946" y="980685"/>
            <a:ext cx="11784474" cy="1478570"/>
          </a:xfrm>
        </p:spPr>
        <p:txBody>
          <a:bodyPr>
            <a:normAutofit fontScale="90000"/>
          </a:bodyPr>
          <a:lstStyle/>
          <a:p>
            <a:r>
              <a:rPr lang="de-DE" sz="5300" u="sng" dirty="0"/>
              <a:t>Technische Trends</a:t>
            </a:r>
            <a:br>
              <a:rPr lang="de-DE" b="1" dirty="0"/>
            </a:br>
            <a:br>
              <a:rPr lang="de-DE" b="1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B4DD58-CA63-8951-8C10-57D32F293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>
                <a:latin typeface="Arial" panose="020B0604020202020204" pitchFamily="34" charset="0"/>
              </a:rPr>
              <a:t>Stärkere Integration in CI/CD-Pipelines</a:t>
            </a:r>
          </a:p>
          <a:p>
            <a:pPr marL="0" indent="0">
              <a:buNone/>
            </a:pPr>
            <a:endParaRPr lang="de-DE" dirty="0">
              <a:latin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</a:rPr>
              <a:t>Mehr Automatisierung (Tests, </a:t>
            </a:r>
            <a:r>
              <a:rPr lang="de-DE" dirty="0" err="1">
                <a:latin typeface="Arial" panose="020B0604020202020204" pitchFamily="34" charset="0"/>
              </a:rPr>
              <a:t>Builds</a:t>
            </a:r>
            <a:r>
              <a:rPr lang="de-DE" dirty="0">
                <a:latin typeface="Arial" panose="020B0604020202020204" pitchFamily="34" charset="0"/>
              </a:rPr>
              <a:t>, Code-Checks nach jedem Commit)</a:t>
            </a:r>
          </a:p>
          <a:p>
            <a:pPr marL="0" indent="0">
              <a:buNone/>
            </a:pPr>
            <a:endParaRPr lang="de-DE" dirty="0">
              <a:latin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</a:rPr>
              <a:t>Erste KI-Unterstützung bei Code-Reviews und </a:t>
            </a:r>
            <a:r>
              <a:rPr lang="de-DE" dirty="0" err="1">
                <a:latin typeface="Arial" panose="020B0604020202020204" pitchFamily="34" charset="0"/>
              </a:rPr>
              <a:t>Merge</a:t>
            </a:r>
            <a:r>
              <a:rPr lang="de-DE" dirty="0">
                <a:latin typeface="Arial" panose="020B0604020202020204" pitchFamily="34" charset="0"/>
              </a:rPr>
              <a:t>-Konflikten</a:t>
            </a:r>
          </a:p>
          <a:p>
            <a:endParaRPr lang="de-DE" dirty="0">
              <a:ea typeface="+mn-lt"/>
              <a:cs typeface="+mn-lt"/>
            </a:endParaRPr>
          </a:p>
          <a:p>
            <a:pPr marL="800100" lvl="1" indent="-342900"/>
            <a:endParaRPr lang="de-DE" dirty="0">
              <a:ea typeface="+mn-lt"/>
              <a:cs typeface="+mn-lt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E5D1AA-BBCA-2D83-ACCB-B2786526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24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016015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58218-8775-B573-A7C1-27EC7AF1F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ED85D0-94CB-C7B1-CB70-F25CBEE0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695" y="838642"/>
            <a:ext cx="11784474" cy="1478570"/>
          </a:xfrm>
        </p:spPr>
        <p:txBody>
          <a:bodyPr>
            <a:normAutofit fontScale="90000"/>
          </a:bodyPr>
          <a:lstStyle/>
          <a:p>
            <a:r>
              <a:rPr lang="de-DE" sz="5300" u="sng" dirty="0"/>
              <a:t>Bedeutung für Entwickler &amp; Teams</a:t>
            </a:r>
            <a:br>
              <a:rPr lang="de-DE" b="1" dirty="0"/>
            </a:br>
            <a:br>
              <a:rPr lang="de-DE" b="1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3CDBB1-4A27-9600-5E60-0B9CBF966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>
                <a:latin typeface="Arial" panose="020B0604020202020204" pitchFamily="34" charset="0"/>
              </a:rPr>
              <a:t>Fokus auf kurze Feedbackzyklen und stabile Codebasen</a:t>
            </a:r>
          </a:p>
          <a:p>
            <a:pPr marL="0" indent="0">
              <a:buNone/>
            </a:pPr>
            <a:endParaRPr lang="de-DE" dirty="0">
              <a:latin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</a:rPr>
              <a:t>Gute </a:t>
            </a:r>
            <a:r>
              <a:rPr lang="de-DE" dirty="0" err="1">
                <a:latin typeface="Arial" panose="020B0604020202020204" pitchFamily="34" charset="0"/>
              </a:rPr>
              <a:t>Branching</a:t>
            </a:r>
            <a:r>
              <a:rPr lang="de-DE" dirty="0">
                <a:latin typeface="Arial" panose="020B0604020202020204" pitchFamily="34" charset="0"/>
              </a:rPr>
              <a:t>-Strategien werden immer wichtiger</a:t>
            </a:r>
          </a:p>
          <a:p>
            <a:pPr marL="0" indent="0">
              <a:buNone/>
            </a:pPr>
            <a:endParaRPr lang="de-DE" dirty="0">
              <a:latin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</a:rPr>
              <a:t>Versionskontrollsysteme steuern nicht nur Code, sondern den gesamten Entwicklungsprozess</a:t>
            </a:r>
          </a:p>
          <a:p>
            <a:pPr marL="0" indent="0">
              <a:buNone/>
            </a:pPr>
            <a:endParaRPr lang="de-DE" dirty="0">
              <a:ea typeface="+mn-lt"/>
              <a:cs typeface="+mn-lt"/>
            </a:endParaRPr>
          </a:p>
          <a:p>
            <a:pPr marL="800100" lvl="1" indent="-342900"/>
            <a:endParaRPr lang="de-DE" dirty="0">
              <a:ea typeface="+mn-lt"/>
              <a:cs typeface="+mn-lt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419395-8167-BD68-4F4A-C620CF64D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25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7824923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9D046-9589-4482-7B2C-FAD9CDBCD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26116D-A1CF-43C2-048F-DF1054029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695" y="838642"/>
            <a:ext cx="11784474" cy="1478570"/>
          </a:xfrm>
        </p:spPr>
        <p:txBody>
          <a:bodyPr>
            <a:normAutofit fontScale="90000"/>
          </a:bodyPr>
          <a:lstStyle/>
          <a:p>
            <a:r>
              <a:rPr lang="de-DE" sz="5300" u="sng" dirty="0"/>
              <a:t>Fazit</a:t>
            </a:r>
            <a:r>
              <a:rPr lang="de-DE" b="1" dirty="0"/>
              <a:t> </a:t>
            </a:r>
            <a:br>
              <a:rPr lang="de-DE" b="1" dirty="0"/>
            </a:br>
            <a:br>
              <a:rPr lang="de-DE" b="1" dirty="0"/>
            </a:b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F1D6C7-B947-9C0B-D81F-EE9A72273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26</a:t>
            </a:fld>
            <a:endParaRPr lang="de-DE" noProof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53E0AB6-7BCF-5A05-664B-DD13787DB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695" y="2082582"/>
            <a:ext cx="1012873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400" dirty="0">
                <a:latin typeface="Arial" panose="020B0604020202020204" pitchFamily="34" charset="0"/>
              </a:rPr>
              <a:t>Versionskontrolle ist die Basis moderner Softwareentwicklung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400" dirty="0">
                <a:latin typeface="Arial" panose="020B0604020202020204" pitchFamily="34" charset="0"/>
              </a:rPr>
              <a:t>Verteilte Systeme wie </a:t>
            </a:r>
            <a:r>
              <a:rPr lang="de-DE" altLang="de-DE" sz="2400" dirty="0" err="1">
                <a:latin typeface="Arial" panose="020B0604020202020204" pitchFamily="34" charset="0"/>
              </a:rPr>
              <a:t>Git</a:t>
            </a:r>
            <a:r>
              <a:rPr lang="de-DE" altLang="de-DE" sz="2400" dirty="0">
                <a:latin typeface="Arial" panose="020B0604020202020204" pitchFamily="34" charset="0"/>
              </a:rPr>
              <a:t> setzen sich dauerhaft durch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400" dirty="0">
                <a:latin typeface="Arial" panose="020B0604020202020204" pitchFamily="34" charset="0"/>
              </a:rPr>
              <a:t>Arbeitsweise und </a:t>
            </a:r>
            <a:r>
              <a:rPr lang="de-DE" altLang="de-DE" sz="2400" dirty="0" err="1">
                <a:latin typeface="Arial" panose="020B0604020202020204" pitchFamily="34" charset="0"/>
              </a:rPr>
              <a:t>Branching</a:t>
            </a:r>
            <a:r>
              <a:rPr lang="de-DE" altLang="de-DE" sz="2400" dirty="0">
                <a:latin typeface="Arial" panose="020B0604020202020204" pitchFamily="34" charset="0"/>
              </a:rPr>
              <a:t>-Strategien entscheiden über Qualität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400" dirty="0">
                <a:latin typeface="Arial" panose="020B0604020202020204" pitchFamily="34" charset="0"/>
              </a:rPr>
              <a:t>Versionskontrollsysteme steuern zunehmend den gesamten Entwicklungsprozess</a:t>
            </a:r>
          </a:p>
        </p:txBody>
      </p:sp>
    </p:spTree>
    <p:extLst>
      <p:ext uri="{BB962C8B-B14F-4D97-AF65-F5344CB8AC3E}">
        <p14:creationId xmlns:p14="http://schemas.microsoft.com/office/powerpoint/2010/main" val="2058955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74068A-1D5D-8AAD-23B8-3026C17C1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800" u="sng" dirty="0"/>
              <a:t>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34EC0A-AD8A-8C9E-AE51-C9781685C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b="1" dirty="0"/>
              <a:t>Literaturquellenangabe</a:t>
            </a:r>
          </a:p>
          <a:p>
            <a:pPr marL="0" indent="0">
              <a:buNone/>
            </a:pPr>
            <a:r>
              <a:rPr lang="de-DE" dirty="0"/>
              <a:t>1: </a:t>
            </a:r>
            <a:r>
              <a:rPr lang="de-DE" dirty="0" err="1"/>
              <a:t>Chacon</a:t>
            </a:r>
            <a:r>
              <a:rPr lang="de-DE" dirty="0"/>
              <a:t>, S., &amp; Straub, B. (2014). </a:t>
            </a:r>
            <a:r>
              <a:rPr lang="de-DE" i="1" dirty="0"/>
              <a:t>Pro </a:t>
            </a:r>
            <a:r>
              <a:rPr lang="de-DE" i="1" dirty="0" err="1"/>
              <a:t>Git</a:t>
            </a:r>
            <a:r>
              <a:rPr lang="de-DE" dirty="0"/>
              <a:t> (2. Aufl.) Kapitel 1.1. </a:t>
            </a:r>
            <a:r>
              <a:rPr lang="de-DE" dirty="0" err="1"/>
              <a:t>Git</a:t>
            </a:r>
            <a:r>
              <a:rPr lang="de-DE" dirty="0"/>
              <a:t>‑SCM. </a:t>
            </a:r>
            <a:r>
              <a:rPr lang="de-DE" u="sng" dirty="0">
                <a:hlinkClick r:id="rId2"/>
              </a:rPr>
              <a:t>https://git-scm.com/</a:t>
            </a:r>
            <a:r>
              <a:rPr lang="de-DE" u="sng" dirty="0" err="1">
                <a:hlinkClick r:id="rId2"/>
              </a:rPr>
              <a:t>book</a:t>
            </a:r>
            <a:r>
              <a:rPr lang="de-DE" u="sng" dirty="0">
                <a:hlinkClick r:id="rId2"/>
              </a:rPr>
              <a:t>/de/v2/Erste-Schritte‑Was‑ist‑Versionsverwaltung%3F</a:t>
            </a:r>
            <a:endParaRPr lang="de-DE" u="sng" dirty="0"/>
          </a:p>
          <a:p>
            <a:r>
              <a:rPr lang="de-DE" b="1" dirty="0"/>
              <a:t>Bildquellen</a:t>
            </a:r>
          </a:p>
          <a:p>
            <a:pPr marL="0" indent="0">
              <a:buNone/>
            </a:pPr>
            <a:r>
              <a:rPr lang="de-DE" dirty="0"/>
              <a:t>Abbildung 1: Selbst erstellte Darstellung</a:t>
            </a:r>
          </a:p>
          <a:p>
            <a:pPr marL="0" indent="0">
              <a:buNone/>
            </a:pPr>
            <a:r>
              <a:rPr lang="de-DE" dirty="0"/>
              <a:t>Abbildung 2: Eigene Darstellung nach </a:t>
            </a:r>
          </a:p>
          <a:p>
            <a:pPr marL="0" indent="0">
              <a:buNone/>
            </a:pPr>
            <a:r>
              <a:rPr lang="de-DE" dirty="0"/>
              <a:t>Abbildung 3:Eigene Darstellung nach </a:t>
            </a:r>
          </a:p>
          <a:p>
            <a:pPr marL="0" indent="0">
              <a:buNone/>
            </a:pPr>
            <a:r>
              <a:rPr lang="de-DE" dirty="0"/>
              <a:t>Abbildung 4:</a:t>
            </a:r>
          </a:p>
          <a:p>
            <a:pPr marL="0" indent="0">
              <a:buNone/>
            </a:pPr>
            <a:r>
              <a:rPr lang="de-DE" dirty="0"/>
              <a:t>Abbildung 5: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D4B769-FBC4-EA26-38BC-1222ABB7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de-DE" noProof="0" smtClean="0"/>
              <a:t>27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7332835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295_TF77815013" id="{04FF5A99-61E7-430B-AE6F-491A1D25D07E}" vid="{DB37A2E5-7D94-4BCB-A9E4-00BDC700153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Zyklus ProblemLösung </Template>
  <TotalTime>0</TotalTime>
  <Words>977</Words>
  <Application>Microsoft Office PowerPoint</Application>
  <PresentationFormat>Breitbild</PresentationFormat>
  <Paragraphs>215</Paragraphs>
  <Slides>27</Slides>
  <Notes>2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3" baseType="lpstr">
      <vt:lpstr>Arial</vt:lpstr>
      <vt:lpstr>Calibri</vt:lpstr>
      <vt:lpstr>Rockwell</vt:lpstr>
      <vt:lpstr>Tahoma</vt:lpstr>
      <vt:lpstr>Tw Cen MT</vt:lpstr>
      <vt:lpstr>Schaltkreis</vt:lpstr>
      <vt:lpstr>Versionskontrollsysteme im Softwareengineering</vt:lpstr>
      <vt:lpstr>PowerPoint-Präsentation</vt:lpstr>
      <vt:lpstr>Inhaltsverzeichnis</vt:lpstr>
      <vt:lpstr>Inhaltsverzeichnis</vt:lpstr>
      <vt:lpstr> Teil1: Einleitung Leitfrage 1</vt:lpstr>
      <vt:lpstr> Zielsetzung von Versionskontrollsystemen</vt:lpstr>
      <vt:lpstr> Zentralisierte Systeme</vt:lpstr>
      <vt:lpstr> Zentralisierte Systeme</vt:lpstr>
      <vt:lpstr> Verteilte Systeme</vt:lpstr>
      <vt:lpstr> Verteilte Systeme</vt:lpstr>
      <vt:lpstr> </vt:lpstr>
      <vt:lpstr>Vergleich Zentralisiert (CVCS) vs. Verteiltes System (DVCS)  </vt:lpstr>
      <vt:lpstr> Technische Darstellung: Git Graph</vt:lpstr>
      <vt:lpstr>Konsequenzen für Arbeitsprozesse</vt:lpstr>
      <vt:lpstr>Zusammenfassung Leitfrage 1</vt:lpstr>
      <vt:lpstr>Teil2: Einleitung Leitfrage 2</vt:lpstr>
      <vt:lpstr>Branching-Grundlagen</vt:lpstr>
      <vt:lpstr>PowerPoint-Präsentation</vt:lpstr>
      <vt:lpstr>PowerPoint-Präsentation</vt:lpstr>
      <vt:lpstr>Forking Workflow</vt:lpstr>
      <vt:lpstr>Auswirkungen auf Softwarequalität (Fehlerhäufigkeit, Code-Stabilität und Merge-Konflikte)</vt:lpstr>
      <vt:lpstr>Zusammenfassung Leitfrage 2</vt:lpstr>
      <vt:lpstr>Zukunftsaussichten von Versionskontrollsystemen </vt:lpstr>
      <vt:lpstr>Technische Trends  </vt:lpstr>
      <vt:lpstr>Bedeutung für Entwickler &amp; Teams  </vt:lpstr>
      <vt:lpstr>Fazit   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Wobby</dc:creator>
  <cp:lastModifiedBy>Wobby</cp:lastModifiedBy>
  <cp:revision>16</cp:revision>
  <dcterms:created xsi:type="dcterms:W3CDTF">2025-12-09T11:29:31Z</dcterms:created>
  <dcterms:modified xsi:type="dcterms:W3CDTF">2025-12-16T16:24:19Z</dcterms:modified>
</cp:coreProperties>
</file>